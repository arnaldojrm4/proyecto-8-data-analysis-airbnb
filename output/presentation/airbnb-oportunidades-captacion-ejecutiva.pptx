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62328-EA3B-431D-A822-31E37C8FA165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6005B-CCB0-40B3-B927-EA29AF9E144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147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Fuente: repositorio Proyecto8-DataAnalyst-Arnaldo. Presentación ejecutiva basada en el build FDAAB53F8317CAD7.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392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Fuente: README.md y docs/analysis/executive-findings.md. Reviews per month es un proxy histórico, no demanda ni reservas.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692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Conteos: Londres 85.068; Nueva York 48.895; Sídney 36.662; Madrid 19.618; Milán 18.322; Tokio 11.466.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756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Fuentes: README.md, notebooks/, src/, tests/, powerbi/ y docker-compose.yml.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6691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Los contrastes son significativos en las seis ciudades, pero el efecto práctico varía. Londres epsilon²=0,0004.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0598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etiqueta candidato exige muestra, efecto, IC, q&lt;0,05, sensibilidades coherentes y cuota local inferior a la cuota de ciudad.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597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Fuente visual: docs/acceptance/evidence/powerbi/01-resumen-ejecutivo.png.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56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Fuente: docs/analysis/executive-findings.md y docs/etl-and-quality.md.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36005B-CCB0-40B3-B927-EA29AF9E144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036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5CA95-5593-D7F1-1447-28E72C3D2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2F27F0-8AEB-5D81-C18D-DE16BC680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7FF299-7045-D4AA-D44A-34B3815D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86471-53FC-D110-1EB7-5FFFD6BE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D17CC-E730-0A9A-4838-E468E153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109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D7058-9CA6-7994-F1CA-E7F67918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6D0A49-BB43-A0D0-9DD7-1797B2977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DEBBE4-B066-FC68-7FF2-F77909B7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695420-6ABC-E04A-2B98-8E7B47E5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E1E18F-4AA8-40D4-3C6D-510F52A9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4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696EF-6708-98B7-3DFE-6067D0B4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0E35FA-48F2-427D-73BB-11FF40C76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C8F6B5-CE5F-6306-ED52-9C277C4F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3A05A0-441F-F24D-9117-4785FEC5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466A7C-FA30-AD7E-39C9-C572396E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373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8DE42-6ECC-52A5-81B8-68713830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1F3885-6294-07FD-B93F-287ED50B4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DB92FE-C727-59E2-2667-8D09773CD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B782F5-5956-E09C-E62D-4F679B75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4E956-EA48-72E6-4AFB-BE7325CF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FD6700-97BB-2F87-AB35-87715441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542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0F2CC-8346-B91C-DF32-0A5099C21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D0EE2A-73F9-2A80-F56C-9440EFD4C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40E746-B6E1-7D1B-0524-FAB4DE783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936B8F-6412-7FC1-7148-2A10B0B26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298B8D-7CF4-50DE-6718-B4C8C499F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879F7C-7B6E-2A93-E1E5-B3BE1FF2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5B5B17-A2BF-DEA5-E408-839BDDEB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631E9FD-0C6A-49FF-3D32-18C74B04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604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77FE0-A46B-5E30-AC47-03C0678F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8B329A-119D-9AE5-6F1A-8DB7D60F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E151AB-8622-05EB-1BA5-53FC0393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6DD3C4-42CA-D6B2-C2C5-9A6E8DFE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331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AECE0E-854C-FC42-9326-05F86749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F623B8-5524-6A45-6547-114F9008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5BDE5A-4810-A2A2-2B34-0053F407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895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A9C9-3912-D8C8-9E1B-857F8D0B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5FBA05-9007-5A47-0920-37E4EE3FB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F45E1B-629C-5218-BB43-E9302D734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D679D6-8764-E43A-214A-FCCF7555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3FD7BE-E39F-2CA7-78B0-6D49F7EF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58B5F0-0097-24A8-77A2-3DC88076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99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804EC-A3C9-A26D-9D3F-613C0FD72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9C68F0-1748-014A-9BDD-281C4DAC9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F655CD-CBB5-EBE8-05B4-ED16BBBAC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574132-51F1-0987-3010-2221B047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5D23AB-57F9-1FE6-36B1-D96CC8E2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760C6E-7A3C-6A4A-FBD9-E8243696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965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742D3-502A-A65B-031C-D142CF11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C22114-9E0F-82BF-8A6C-6B8F9C7A0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82B77-E0FD-A4C2-D6D9-AB5F182F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DE9CCF-62CF-BF7F-0E30-170FCCD8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9A1194-4D4E-9B8A-1EE2-7B4F3A72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108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67C425-9E6A-BF8C-C7D4-DFECAB1D0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AD29DD-DB28-D3E3-C59F-0DC7E86FA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903BEC-A10F-DE0F-7E8F-19CD6F6D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E0549-6567-9670-0925-341B7088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5FA70E-42E6-D130-DE27-F5F8EC67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125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015048-E9E9-34AE-A21D-11A2913C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8671E3-5BCF-6EBC-3FF7-1057D2351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D33FC7-C9C8-48DC-9A83-8D837B450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3E48A-8E92-4C19-AFAB-E62F0BED5269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74A2F5-C204-C633-DC70-4A4A580E0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00CE50-BC06-5DBB-15C0-837930140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0BAEE-537F-4B93-BBF3-8F68AEDA8D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988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9069A4-8CAD-830F-5395-4BE98388051B}"/>
              </a:ext>
            </a:extLst>
          </p:cNvPr>
          <p:cNvSpPr txBox="1"/>
          <p:nvPr/>
        </p:nvSpPr>
        <p:spPr>
          <a:xfrm>
            <a:off x="889000" y="13335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3900" b="1">
                <a:solidFill>
                  <a:srgbClr val="FFFFFF"/>
                </a:solidFill>
                <a:latin typeface="Aptos Display" panose="020B0004020202020204" pitchFamily="34" charset="0"/>
              </a:rPr>
              <a:t>Oportunidades de captación en Airbnb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2F95CE-22F6-E7D7-5E06-5800B2C66F24}"/>
              </a:ext>
            </a:extLst>
          </p:cNvPr>
          <p:cNvSpPr txBox="1"/>
          <p:nvPr/>
        </p:nvSpPr>
        <p:spPr>
          <a:xfrm>
            <a:off x="914400" y="28575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300">
                <a:solidFill>
                  <a:srgbClr val="FFFFFF"/>
                </a:solidFill>
                <a:latin typeface="Aptos" panose="020B0004020202020204" pitchFamily="34" charset="0"/>
              </a:rPr>
              <a:t>Qué aprendimos de 220.031 anuncios públicos en seis ciudades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168E103-9FDD-93C8-B6E7-2C38AFF23A61}"/>
              </a:ext>
            </a:extLst>
          </p:cNvPr>
          <p:cNvSpPr txBox="1"/>
          <p:nvPr/>
        </p:nvSpPr>
        <p:spPr>
          <a:xfrm>
            <a:off x="914400" y="39624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 b="1">
                <a:solidFill>
                  <a:srgbClr val="FF385C"/>
                </a:solidFill>
                <a:latin typeface="Aptos" panose="020B0004020202020204" pitchFamily="34" charset="0"/>
              </a:rPr>
              <a:t>Análisis ejecutivo para priorizar dónde investigar nueva oferta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80CC39-8682-6B7C-B5FD-4E86633F97C3}"/>
              </a:ext>
            </a:extLst>
          </p:cNvPr>
          <p:cNvSpPr txBox="1"/>
          <p:nvPr/>
        </p:nvSpPr>
        <p:spPr>
          <a:xfrm>
            <a:off x="914400" y="5791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200">
                <a:solidFill>
                  <a:srgbClr val="FFFFFF"/>
                </a:solidFill>
                <a:latin typeface="Aptos" panose="020B0004020202020204" pitchFamily="34" charset="0"/>
              </a:rPr>
              <a:t>Proyecto educativo de análisis de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1496BE8-3808-BFF5-D802-82D9A06FD0E9}"/>
              </a:ext>
            </a:extLst>
          </p:cNvPr>
          <p:cNvSpPr txBox="1"/>
          <p:nvPr/>
        </p:nvSpPr>
        <p:spPr>
          <a:xfrm>
            <a:off x="7747000" y="57912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Python, Power BI, Docker y GitHub</a:t>
            </a:r>
          </a:p>
        </p:txBody>
      </p:sp>
    </p:spTree>
    <p:extLst>
      <p:ext uri="{BB962C8B-B14F-4D97-AF65-F5344CB8AC3E}">
        <p14:creationId xmlns:p14="http://schemas.microsoft.com/office/powerpoint/2010/main" val="1463063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A65D68-73BE-F1C5-AA40-7EF12106AD52}"/>
              </a:ext>
            </a:extLst>
          </p:cNvPr>
          <p:cNvSpPr txBox="1"/>
          <p:nvPr/>
        </p:nvSpPr>
        <p:spPr>
          <a:xfrm>
            <a:off x="685800" y="406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 b="1">
                <a:solidFill>
                  <a:srgbClr val="222222"/>
                </a:solidFill>
                <a:latin typeface="Aptos Display" panose="020B0004020202020204" pitchFamily="34" charset="0"/>
              </a:rPr>
              <a:t>La decisión que queríamos apoyar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12EEB8-7B48-FE22-E426-1775F4D3064B}"/>
              </a:ext>
            </a:extLst>
          </p:cNvPr>
          <p:cNvSpPr txBox="1"/>
          <p:nvPr/>
        </p:nvSpPr>
        <p:spPr>
          <a:xfrm>
            <a:off x="889000" y="14986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3100" b="1">
                <a:solidFill>
                  <a:srgbClr val="222222"/>
                </a:solidFill>
                <a:latin typeface="Aptos Display" panose="020B0004020202020204" pitchFamily="34" charset="0"/>
              </a:rPr>
              <a:t>¿Qué combinaciones de ciudad, barrio y tipología conviene investigar primero para captar nueva oferta?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B8C8CA-CB22-B525-14EE-0A47CB721ABD}"/>
              </a:ext>
            </a:extLst>
          </p:cNvPr>
          <p:cNvSpPr txBox="1"/>
          <p:nvPr/>
        </p:nvSpPr>
        <p:spPr>
          <a:xfrm>
            <a:off x="889000" y="38735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>
                <a:solidFill>
                  <a:srgbClr val="6A6A6A"/>
                </a:solidFill>
                <a:latin typeface="Aptos" panose="020B0004020202020204" pitchFamily="34" charset="0"/>
              </a:rPr>
              <a:t>La unidad de decisión es cada segmento local. Un promedio global ocultaría diferencias entre mercados.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61EE402-27B6-D66D-B6D2-CF1D7F2DDC88}"/>
              </a:ext>
            </a:extLst>
          </p:cNvPr>
          <p:cNvSpPr txBox="1"/>
          <p:nvPr/>
        </p:nvSpPr>
        <p:spPr>
          <a:xfrm>
            <a:off x="7747000" y="1600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s-ES" sz="2200" b="1">
                <a:solidFill>
                  <a:srgbClr val="35648F"/>
                </a:solidFill>
                <a:latin typeface="Aptos" panose="020B0004020202020204" pitchFamily="34" charset="0"/>
              </a:rPr>
              <a:t>Actividad histórica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033C9F-9739-BAFA-162F-3F30C823DC68}"/>
              </a:ext>
            </a:extLst>
          </p:cNvPr>
          <p:cNvSpPr txBox="1"/>
          <p:nvPr/>
        </p:nvSpPr>
        <p:spPr>
          <a:xfrm>
            <a:off x="9144000" y="21590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s-ES" sz="2200" b="1">
                <a:solidFill>
                  <a:srgbClr val="6A6A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EA26A35-DE8B-F29A-8B4C-F4457B343A8A}"/>
              </a:ext>
            </a:extLst>
          </p:cNvPr>
          <p:cNvSpPr txBox="1"/>
          <p:nvPr/>
        </p:nvSpPr>
        <p:spPr>
          <a:xfrm>
            <a:off x="7747000" y="2667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s-ES" sz="2200" b="1">
                <a:solidFill>
                  <a:srgbClr val="C99B42"/>
                </a:solidFill>
                <a:latin typeface="Aptos" panose="020B0004020202020204" pitchFamily="34" charset="0"/>
              </a:rPr>
              <a:t>Evidencia estadística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28B7B3-625A-8CD4-7B8B-B2AE62A88D5B}"/>
              </a:ext>
            </a:extLst>
          </p:cNvPr>
          <p:cNvSpPr txBox="1"/>
          <p:nvPr/>
        </p:nvSpPr>
        <p:spPr>
          <a:xfrm>
            <a:off x="9144000" y="3225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s-ES" sz="2200" b="1">
                <a:solidFill>
                  <a:srgbClr val="6A6A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A570B69-50CA-3939-CDD3-B04B31C2975F}"/>
              </a:ext>
            </a:extLst>
          </p:cNvPr>
          <p:cNvSpPr txBox="1"/>
          <p:nvPr/>
        </p:nvSpPr>
        <p:spPr>
          <a:xfrm>
            <a:off x="7747000" y="3733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s-ES" sz="2200" b="1">
                <a:solidFill>
                  <a:srgbClr val="FF385C"/>
                </a:solidFill>
                <a:latin typeface="Aptos" panose="020B0004020202020204" pitchFamily="34" charset="0"/>
              </a:rPr>
              <a:t>Oferta relativa baja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3BAD1D5-0626-0805-BDE9-C905E2853C88}"/>
              </a:ext>
            </a:extLst>
          </p:cNvPr>
          <p:cNvSpPr txBox="1"/>
          <p:nvPr/>
        </p:nvSpPr>
        <p:spPr>
          <a:xfrm>
            <a:off x="9144000" y="4292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s-ES" sz="2200" b="1">
                <a:solidFill>
                  <a:srgbClr val="6A6A6A"/>
                </a:solidFill>
                <a:latin typeface="Aptos" panose="020B0004020202020204" pitchFamily="34" charset="0"/>
              </a:rPr>
              <a:t>=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72C9103-A2CD-4978-87DB-E6EAA7A20FDC}"/>
              </a:ext>
            </a:extLst>
          </p:cNvPr>
          <p:cNvSpPr txBox="1"/>
          <p:nvPr/>
        </p:nvSpPr>
        <p:spPr>
          <a:xfrm>
            <a:off x="7747000" y="48133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s-ES" sz="2400" b="1">
                <a:solidFill>
                  <a:srgbClr val="222222"/>
                </a:solidFill>
                <a:latin typeface="Aptos Display" panose="020B0004020202020204" pitchFamily="34" charset="0"/>
              </a:rPr>
              <a:t>Candidato para validar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D736596-8614-DDB7-76E2-4D78FF651351}"/>
              </a:ext>
            </a:extLst>
          </p:cNvPr>
          <p:cNvSpPr txBox="1"/>
          <p:nvPr/>
        </p:nvSpPr>
        <p:spPr>
          <a:xfrm>
            <a:off x="685800" y="6413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Criterios versionados en config/analysis.yml. La actividad se aproxima con reseñas mensuales históricas.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D851B9-6280-89E9-BE5E-71B12F092FAC}"/>
              </a:ext>
            </a:extLst>
          </p:cNvPr>
          <p:cNvSpPr txBox="1"/>
          <p:nvPr/>
        </p:nvSpPr>
        <p:spPr>
          <a:xfrm>
            <a:off x="11176000" y="64135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038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2745CE2-2405-C9A5-3DF9-EE306295D057}"/>
              </a:ext>
            </a:extLst>
          </p:cNvPr>
          <p:cNvSpPr txBox="1"/>
          <p:nvPr/>
        </p:nvSpPr>
        <p:spPr>
          <a:xfrm>
            <a:off x="685800" y="406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 b="1">
                <a:solidFill>
                  <a:srgbClr val="222222"/>
                </a:solidFill>
                <a:latin typeface="Aptos Display" panose="020B0004020202020204" pitchFamily="34" charset="0"/>
              </a:rPr>
              <a:t>Una base comparable sin perder trazabilidad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B12BD52-94C9-A266-1BA3-936DBC83B8C3}"/>
              </a:ext>
            </a:extLst>
          </p:cNvPr>
          <p:cNvSpPr txBox="1"/>
          <p:nvPr/>
        </p:nvSpPr>
        <p:spPr>
          <a:xfrm>
            <a:off x="787400" y="1600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3900" b="1">
                <a:solidFill>
                  <a:srgbClr val="FF385C"/>
                </a:solidFill>
                <a:latin typeface="Aptos Display" panose="020B0004020202020204" pitchFamily="34" charset="0"/>
              </a:rPr>
              <a:t>220.031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E38F07D-C4B7-00BC-CDAE-299761F264A0}"/>
              </a:ext>
            </a:extLst>
          </p:cNvPr>
          <p:cNvSpPr txBox="1"/>
          <p:nvPr/>
        </p:nvSpPr>
        <p:spPr>
          <a:xfrm>
            <a:off x="812800" y="2286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>
                <a:solidFill>
                  <a:srgbClr val="6A6A6A"/>
                </a:solidFill>
                <a:latin typeface="Aptos" panose="020B0004020202020204" pitchFamily="34" charset="0"/>
              </a:rPr>
              <a:t>anuncios integrados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49FCDC-3A32-12AC-B68E-D9CD7D28EBAF}"/>
              </a:ext>
            </a:extLst>
          </p:cNvPr>
          <p:cNvSpPr txBox="1"/>
          <p:nvPr/>
        </p:nvSpPr>
        <p:spPr>
          <a:xfrm>
            <a:off x="787400" y="30607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3900" b="1">
                <a:solidFill>
                  <a:srgbClr val="FF385C"/>
                </a:solidFill>
                <a:latin typeface="Aptos Display" panose="020B0004020202020204" pitchFamily="34" charset="0"/>
              </a:rPr>
              <a:t>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F983B1-E92F-C494-ACCD-B658933A842C}"/>
              </a:ext>
            </a:extLst>
          </p:cNvPr>
          <p:cNvSpPr txBox="1"/>
          <p:nvPr/>
        </p:nvSpPr>
        <p:spPr>
          <a:xfrm>
            <a:off x="812800" y="3746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>
                <a:solidFill>
                  <a:srgbClr val="6A6A6A"/>
                </a:solidFill>
                <a:latin typeface="Aptos" panose="020B0004020202020204" pitchFamily="34" charset="0"/>
              </a:rPr>
              <a:t>ciudades analizadas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2AAA00-DAD3-BC78-F389-A166F0F807EA}"/>
              </a:ext>
            </a:extLst>
          </p:cNvPr>
          <p:cNvSpPr txBox="1"/>
          <p:nvPr/>
        </p:nvSpPr>
        <p:spPr>
          <a:xfrm>
            <a:off x="787400" y="4521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3900" b="1">
                <a:solidFill>
                  <a:srgbClr val="FF385C"/>
                </a:solidFill>
                <a:latin typeface="Aptos Display" panose="020B0004020202020204" pitchFamily="34" charset="0"/>
              </a:rPr>
              <a:t>100 %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8DC366-2B50-FAD7-DDEF-C8E2AD25515E}"/>
              </a:ext>
            </a:extLst>
          </p:cNvPr>
          <p:cNvSpPr txBox="1"/>
          <p:nvPr/>
        </p:nvSpPr>
        <p:spPr>
          <a:xfrm>
            <a:off x="812800" y="5207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>
                <a:solidFill>
                  <a:srgbClr val="6A6A6A"/>
                </a:solidFill>
                <a:latin typeface="Aptos" panose="020B0004020202020204" pitchFamily="34" charset="0"/>
              </a:rPr>
              <a:t>de filas preservadas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149EB25-433F-1FC4-E1E8-832357B2D3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615667"/>
            <a:ext cx="7620000" cy="377906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7B55952-A5D5-17FF-5E1A-35BFDBD6027A}"/>
              </a:ext>
            </a:extLst>
          </p:cNvPr>
          <p:cNvSpPr txBox="1"/>
          <p:nvPr/>
        </p:nvSpPr>
        <p:spPr>
          <a:xfrm>
            <a:off x="3937000" y="5727700"/>
            <a:ext cx="730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300">
                <a:solidFill>
                  <a:srgbClr val="6A6A6A"/>
                </a:solidFill>
                <a:latin typeface="Aptos" panose="020B0004020202020204" pitchFamily="34" charset="0"/>
              </a:rPr>
              <a:t>La comparación se realiza dentro de cada ciudad; moneda y fecha de extracción son desconocidas.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B16BF02-6ACE-A28C-6819-DF844BE76FBF}"/>
              </a:ext>
            </a:extLst>
          </p:cNvPr>
          <p:cNvSpPr txBox="1"/>
          <p:nvPr/>
        </p:nvSpPr>
        <p:spPr>
          <a:xfrm>
            <a:off x="685800" y="6413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6A6A6A"/>
                </a:solidFill>
                <a:latin typeface="Aptos" panose="020B0004020202020204" pitchFamily="34" charset="0"/>
              </a:rPr>
              <a:t>Fuentes: seis CSV originales y artifacts/figures/room_type_mix_by_city.png.</a:t>
            </a:r>
            <a:endParaRPr lang="es-ES" sz="900">
              <a:solidFill>
                <a:srgbClr val="6A6A6A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8B7945A-125E-7891-2A19-57E971E9FF59}"/>
              </a:ext>
            </a:extLst>
          </p:cNvPr>
          <p:cNvSpPr txBox="1"/>
          <p:nvPr/>
        </p:nvSpPr>
        <p:spPr>
          <a:xfrm>
            <a:off x="11176000" y="64135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0629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F24251E-F3DC-4471-A1DB-97A6E27F28CE}"/>
              </a:ext>
            </a:extLst>
          </p:cNvPr>
          <p:cNvSpPr txBox="1"/>
          <p:nvPr/>
        </p:nvSpPr>
        <p:spPr>
          <a:xfrm>
            <a:off x="685800" y="406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 b="1">
                <a:solidFill>
                  <a:srgbClr val="222222"/>
                </a:solidFill>
                <a:latin typeface="Aptos Display" panose="020B0004020202020204" pitchFamily="34" charset="0"/>
              </a:rPr>
              <a:t>Un flujo reproducible desde los CSV hasta la decisión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158605-67C3-E2EA-C690-F83B76644072}"/>
              </a:ext>
            </a:extLst>
          </p:cNvPr>
          <p:cNvSpPr txBox="1"/>
          <p:nvPr/>
        </p:nvSpPr>
        <p:spPr>
          <a:xfrm>
            <a:off x="698500" y="1600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BADE95-B61B-3489-E667-25616A335FD7}"/>
              </a:ext>
            </a:extLst>
          </p:cNvPr>
          <p:cNvSpPr txBox="1"/>
          <p:nvPr/>
        </p:nvSpPr>
        <p:spPr>
          <a:xfrm>
            <a:off x="698500" y="215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100" b="1">
                <a:solidFill>
                  <a:srgbClr val="222222"/>
                </a:solidFill>
                <a:latin typeface="Aptos Display" panose="020B0004020202020204" pitchFamily="34" charset="0"/>
              </a:rPr>
              <a:t>Auditoría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0A85D9-96F6-B0FA-A9F3-6C7045184CA1}"/>
              </a:ext>
            </a:extLst>
          </p:cNvPr>
          <p:cNvSpPr txBox="1"/>
          <p:nvPr/>
        </p:nvSpPr>
        <p:spPr>
          <a:xfrm>
            <a:off x="698500" y="2768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500">
                <a:solidFill>
                  <a:srgbClr val="6A6A6A"/>
                </a:solidFill>
                <a:latin typeface="Aptos" panose="020B0004020202020204" pitchFamily="34" charset="0"/>
              </a:rPr>
              <a:t>Esquema, nulos, duplicados y huellas SHA-256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80D12C-43D6-9E50-872F-A466509934B7}"/>
              </a:ext>
            </a:extLst>
          </p:cNvPr>
          <p:cNvSpPr txBox="1"/>
          <p:nvPr/>
        </p:nvSpPr>
        <p:spPr>
          <a:xfrm>
            <a:off x="2984500" y="1600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974FD3E-1006-2F8C-F8F8-788745F3C2F5}"/>
              </a:ext>
            </a:extLst>
          </p:cNvPr>
          <p:cNvSpPr txBox="1"/>
          <p:nvPr/>
        </p:nvSpPr>
        <p:spPr>
          <a:xfrm>
            <a:off x="2984500" y="215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100" b="1">
                <a:solidFill>
                  <a:srgbClr val="222222"/>
                </a:solidFill>
                <a:latin typeface="Aptos Display" panose="020B0004020202020204" pitchFamily="34" charset="0"/>
              </a:rPr>
              <a:t>ETL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CB6557-B110-7A9E-F100-699E4C4A2614}"/>
              </a:ext>
            </a:extLst>
          </p:cNvPr>
          <p:cNvSpPr txBox="1"/>
          <p:nvPr/>
        </p:nvSpPr>
        <p:spPr>
          <a:xfrm>
            <a:off x="2984500" y="2768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500">
                <a:solidFill>
                  <a:srgbClr val="6A6A6A"/>
                </a:solidFill>
                <a:latin typeface="Aptos" panose="020B0004020202020204" pitchFamily="34" charset="0"/>
              </a:rPr>
              <a:t>Pandas y NumPy armonizan seis fuentes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D654B1E-DBC8-A81B-432F-AD908B5D059C}"/>
              </a:ext>
            </a:extLst>
          </p:cNvPr>
          <p:cNvSpPr txBox="1"/>
          <p:nvPr/>
        </p:nvSpPr>
        <p:spPr>
          <a:xfrm>
            <a:off x="5270500" y="1600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A92FD2-E796-B3C0-C7AE-BEAAA4FB98D7}"/>
              </a:ext>
            </a:extLst>
          </p:cNvPr>
          <p:cNvSpPr txBox="1"/>
          <p:nvPr/>
        </p:nvSpPr>
        <p:spPr>
          <a:xfrm>
            <a:off x="5270500" y="215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100" b="1">
                <a:solidFill>
                  <a:srgbClr val="222222"/>
                </a:solidFill>
                <a:latin typeface="Aptos Display" panose="020B0004020202020204" pitchFamily="34" charset="0"/>
              </a:rPr>
              <a:t>EDA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AE8A899-647B-FB01-7A8A-6F06DB076B3D}"/>
              </a:ext>
            </a:extLst>
          </p:cNvPr>
          <p:cNvSpPr txBox="1"/>
          <p:nvPr/>
        </p:nvSpPr>
        <p:spPr>
          <a:xfrm>
            <a:off x="5270500" y="2768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500">
                <a:solidFill>
                  <a:srgbClr val="6A6A6A"/>
                </a:solidFill>
                <a:latin typeface="Aptos" panose="020B0004020202020204" pitchFamily="34" charset="0"/>
              </a:rPr>
              <a:t>Matplotlib, Seaborn y Plotly muestran patrones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42DA95-6A08-CD85-CC5D-C3F0BE1BF3C5}"/>
              </a:ext>
            </a:extLst>
          </p:cNvPr>
          <p:cNvSpPr txBox="1"/>
          <p:nvPr/>
        </p:nvSpPr>
        <p:spPr>
          <a:xfrm>
            <a:off x="7556500" y="1600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DC78961-868A-4246-186D-858059F3CBCE}"/>
              </a:ext>
            </a:extLst>
          </p:cNvPr>
          <p:cNvSpPr txBox="1"/>
          <p:nvPr/>
        </p:nvSpPr>
        <p:spPr>
          <a:xfrm>
            <a:off x="7556500" y="215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100" b="1">
                <a:solidFill>
                  <a:srgbClr val="222222"/>
                </a:solidFill>
                <a:latin typeface="Aptos Display" panose="020B0004020202020204" pitchFamily="34" charset="0"/>
              </a:rPr>
              <a:t>Estadística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5C6B945-88EE-AEBC-C201-B81E9CFC0A93}"/>
              </a:ext>
            </a:extLst>
          </p:cNvPr>
          <p:cNvSpPr txBox="1"/>
          <p:nvPr/>
        </p:nvSpPr>
        <p:spPr>
          <a:xfrm>
            <a:off x="7556500" y="2768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500">
                <a:solidFill>
                  <a:srgbClr val="6A6A6A"/>
                </a:solidFill>
                <a:latin typeface="Aptos" panose="020B0004020202020204" pitchFamily="34" charset="0"/>
              </a:rPr>
              <a:t>Efectos, intervalos y corrección por múltiples pruebas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23DE53D-80A5-E00B-BB4F-DC3D996A9E74}"/>
              </a:ext>
            </a:extLst>
          </p:cNvPr>
          <p:cNvSpPr txBox="1"/>
          <p:nvPr/>
        </p:nvSpPr>
        <p:spPr>
          <a:xfrm>
            <a:off x="9842500" y="1600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05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AF42DC-513E-832A-48AF-AC283ED5F8D7}"/>
              </a:ext>
            </a:extLst>
          </p:cNvPr>
          <p:cNvSpPr txBox="1"/>
          <p:nvPr/>
        </p:nvSpPr>
        <p:spPr>
          <a:xfrm>
            <a:off x="9842500" y="2159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100" b="1">
                <a:solidFill>
                  <a:srgbClr val="222222"/>
                </a:solidFill>
                <a:latin typeface="Aptos Display" panose="020B0004020202020204" pitchFamily="34" charset="0"/>
              </a:rPr>
              <a:t>Entrega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0A1482A-5B7E-8F8C-3A96-5FF7994768C8}"/>
              </a:ext>
            </a:extLst>
          </p:cNvPr>
          <p:cNvSpPr txBox="1"/>
          <p:nvPr/>
        </p:nvSpPr>
        <p:spPr>
          <a:xfrm>
            <a:off x="9842500" y="2768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500">
                <a:solidFill>
                  <a:srgbClr val="6A6A6A"/>
                </a:solidFill>
                <a:latin typeface="Aptos" panose="020B0004020202020204" pitchFamily="34" charset="0"/>
              </a:rPr>
              <a:t>Power BI, Docker, GitHub y documentación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DB60FA2-F504-2DA7-A63C-BD7130B6AD67}"/>
              </a:ext>
            </a:extLst>
          </p:cNvPr>
          <p:cNvSpPr txBox="1"/>
          <p:nvPr/>
        </p:nvSpPr>
        <p:spPr>
          <a:xfrm>
            <a:off x="698500" y="4699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b="1">
                <a:solidFill>
                  <a:srgbClr val="FF385C"/>
                </a:solidFill>
                <a:latin typeface="Aptos" panose="020B0004020202020204" pitchFamily="34" charset="0"/>
              </a:rPr>
              <a:t>Resultado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EF8F446-3D3D-923E-5109-7B375CE6335B}"/>
              </a:ext>
            </a:extLst>
          </p:cNvPr>
          <p:cNvSpPr txBox="1"/>
          <p:nvPr/>
        </p:nvSpPr>
        <p:spPr>
          <a:xfrm>
            <a:off x="2349500" y="46228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300" b="1">
                <a:solidFill>
                  <a:srgbClr val="222222"/>
                </a:solidFill>
                <a:latin typeface="Aptos Display" panose="020B0004020202020204" pitchFamily="34" charset="0"/>
              </a:rPr>
              <a:t>Notebooks comentados, 95 pruebas aprobadas, dashboard interactivo y ejecución local o con Docker.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5AA2844-D629-D927-5C0E-24D04E011780}"/>
              </a:ext>
            </a:extLst>
          </p:cNvPr>
          <p:cNvSpPr txBox="1"/>
          <p:nvPr/>
        </p:nvSpPr>
        <p:spPr>
          <a:xfrm>
            <a:off x="685800" y="6413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Código, reglas, pruebas y documentación permanecen versionados y auditables.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94CAF1A-FD7A-B5FB-0E91-29226A53707E}"/>
              </a:ext>
            </a:extLst>
          </p:cNvPr>
          <p:cNvSpPr txBox="1"/>
          <p:nvPr/>
        </p:nvSpPr>
        <p:spPr>
          <a:xfrm>
            <a:off x="11176000" y="64135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4996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7A69147-44C6-DEED-FC78-5FF52AD316C6}"/>
              </a:ext>
            </a:extLst>
          </p:cNvPr>
          <p:cNvSpPr txBox="1"/>
          <p:nvPr/>
        </p:nvSpPr>
        <p:spPr>
          <a:xfrm>
            <a:off x="685800" y="406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 b="1">
                <a:solidFill>
                  <a:srgbClr val="222222"/>
                </a:solidFill>
                <a:latin typeface="Aptos Display" panose="020B0004020202020204" pitchFamily="34" charset="0"/>
              </a:rPr>
              <a:t>La tipología importa, pero el barrio cambia la prioridad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6D9FC5-B50F-8B36-8C67-1F3BD3A8D3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00877"/>
            <a:ext cx="7493000" cy="411974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EC24F4A-E084-2EDE-0673-AED2AC771783}"/>
              </a:ext>
            </a:extLst>
          </p:cNvPr>
          <p:cNvSpPr txBox="1"/>
          <p:nvPr/>
        </p:nvSpPr>
        <p:spPr>
          <a:xfrm>
            <a:off x="8509000" y="16256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35648F"/>
                </a:solidFill>
                <a:latin typeface="Aptos Display" panose="020B0004020202020204" pitchFamily="34" charset="0"/>
              </a:rPr>
              <a:t>Alojamiento completo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5C274A-9A38-7715-44E8-C1441D6B30DF}"/>
              </a:ext>
            </a:extLst>
          </p:cNvPr>
          <p:cNvSpPr txBox="1"/>
          <p:nvPr/>
        </p:nvSpPr>
        <p:spPr>
          <a:xfrm>
            <a:off x="8509000" y="21336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600">
                <a:solidFill>
                  <a:srgbClr val="222222"/>
                </a:solidFill>
                <a:latin typeface="Aptos" panose="020B0004020202020204" pitchFamily="34" charset="0"/>
              </a:rPr>
              <a:t>Registra la mayor mediana de actividad en cinco de las seis ciudades.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5F63989-1618-ADF2-E901-0350C98704E6}"/>
              </a:ext>
            </a:extLst>
          </p:cNvPr>
          <p:cNvSpPr txBox="1"/>
          <p:nvPr/>
        </p:nvSpPr>
        <p:spPr>
          <a:xfrm>
            <a:off x="8509000" y="33909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Oportunidad local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00697AC-1173-861A-4308-BCD30053B2F1}"/>
              </a:ext>
            </a:extLst>
          </p:cNvPr>
          <p:cNvSpPr txBox="1"/>
          <p:nvPr/>
        </p:nvSpPr>
        <p:spPr>
          <a:xfrm>
            <a:off x="8509000" y="38989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600">
                <a:solidFill>
                  <a:srgbClr val="222222"/>
                </a:solidFill>
                <a:latin typeface="Aptos" panose="020B0004020202020204" pitchFamily="34" charset="0"/>
              </a:rPr>
              <a:t>Madrid, Sídney y Tokio priorizan una habitación privada en su primer segmento candidato.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BC92079-D0E6-7D17-41B9-1D46E03470DA}"/>
              </a:ext>
            </a:extLst>
          </p:cNvPr>
          <p:cNvSpPr txBox="1"/>
          <p:nvPr/>
        </p:nvSpPr>
        <p:spPr>
          <a:xfrm>
            <a:off x="8509000" y="5334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600" b="1">
                <a:solidFill>
                  <a:srgbClr val="222222"/>
                </a:solidFill>
                <a:latin typeface="Aptos" panose="020B0004020202020204" pitchFamily="34" charset="0"/>
              </a:rPr>
              <a:t>Conclusión: barrio y tipología deben evaluarse juntos.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5059EC-47ED-0E22-AF3B-E60F170A4B30}"/>
              </a:ext>
            </a:extLst>
          </p:cNvPr>
          <p:cNvSpPr txBox="1"/>
          <p:nvPr/>
        </p:nvSpPr>
        <p:spPr>
          <a:xfrm>
            <a:off x="685800" y="6413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Fuente: artifacts/figures/activity_by_room_type.png y contraste Kruskal-Wallis por ciudad.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858EA38-AB05-FD47-B01A-00F168251D47}"/>
              </a:ext>
            </a:extLst>
          </p:cNvPr>
          <p:cNvSpPr txBox="1"/>
          <p:nvPr/>
        </p:nvSpPr>
        <p:spPr>
          <a:xfrm>
            <a:off x="11176000" y="64135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6107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023F80-619B-8B8D-14DA-D603BEC5D735}"/>
              </a:ext>
            </a:extLst>
          </p:cNvPr>
          <p:cNvSpPr txBox="1"/>
          <p:nvPr/>
        </p:nvSpPr>
        <p:spPr>
          <a:xfrm>
            <a:off x="685800" y="406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 b="1">
                <a:solidFill>
                  <a:srgbClr val="222222"/>
                </a:solidFill>
                <a:latin typeface="Aptos Display" panose="020B0004020202020204" pitchFamily="34" charset="0"/>
              </a:rPr>
              <a:t>Cinco segmentos para validar primero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9446BA2-A662-E794-CF87-33370BC88DCC}"/>
              </a:ext>
            </a:extLst>
          </p:cNvPr>
          <p:cNvSpPr txBox="1"/>
          <p:nvPr/>
        </p:nvSpPr>
        <p:spPr>
          <a:xfrm>
            <a:off x="711200" y="1168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600" b="1">
                <a:solidFill>
                  <a:srgbClr val="FF385C"/>
                </a:solidFill>
                <a:latin typeface="Aptos Display" panose="020B0004020202020204" pitchFamily="34" charset="0"/>
              </a:rPr>
              <a:t>28 candidatos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2CD54C-07F7-2F0A-156D-6EFB8FA1E6ED}"/>
              </a:ext>
            </a:extLst>
          </p:cNvPr>
          <p:cNvSpPr txBox="1"/>
          <p:nvPr/>
        </p:nvSpPr>
        <p:spPr>
          <a:xfrm>
            <a:off x="3530600" y="1257300"/>
            <a:ext cx="565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>
                <a:solidFill>
                  <a:srgbClr val="6A6A6A"/>
                </a:solidFill>
                <a:latin typeface="Aptos" panose="020B0004020202020204" pitchFamily="34" charset="0"/>
              </a:rPr>
              <a:t>25 se concentran en Nueva York y Sídney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10EE7A-04F2-E813-429F-3DE868C8880A}"/>
              </a:ext>
            </a:extLst>
          </p:cNvPr>
          <p:cNvSpPr txBox="1"/>
          <p:nvPr/>
        </p:nvSpPr>
        <p:spPr>
          <a:xfrm>
            <a:off x="9080500" y="1257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1300" b="1">
                <a:solidFill>
                  <a:srgbClr val="222222"/>
                </a:solidFill>
                <a:latin typeface="Aptos" panose="020B0004020202020204" pitchFamily="34" charset="0"/>
              </a:rPr>
              <a:t>Londres: ningún segmento superó todos los criterios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8E770D5-8545-2352-8A46-C4D26DF46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91727"/>
              </p:ext>
            </p:extLst>
          </p:nvPr>
        </p:nvGraphicFramePr>
        <p:xfrm>
          <a:off x="698500" y="1943100"/>
          <a:ext cx="10795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4267392012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313896977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7549489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5913969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14525929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39033317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Ciudad</a:t>
                      </a:r>
                    </a:p>
                  </a:txBody>
                  <a:tcPr marL="76200" marR="76200" marT="38100" marB="3810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Barrio y tipología</a:t>
                      </a:r>
                    </a:p>
                  </a:txBody>
                  <a:tcPr marL="76200" marR="76200" marT="38100" marB="3810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N</a:t>
                      </a:r>
                    </a:p>
                  </a:txBody>
                  <a:tcPr marL="76200" marR="76200" marT="38100" marB="3810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Superioridad</a:t>
                      </a:r>
                    </a:p>
                  </a:txBody>
                  <a:tcPr marL="76200" marR="76200" marT="38100" marB="3810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IC 95 %</a:t>
                      </a:r>
                    </a:p>
                  </a:txBody>
                  <a:tcPr marL="76200" marR="76200" marT="38100" marB="3810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q ajustado</a:t>
                      </a:r>
                    </a:p>
                  </a:txBody>
                  <a:tcPr marL="76200" marR="76200" marT="38100" marB="38100"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67715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s-ES" sz="1250" b="1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Madrid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Justicia / Habitación privada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281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56,5 %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52,4-61,3 %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0,0203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81812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s-ES" sz="1250" b="1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Milán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CENTRALE / Alojamiento completo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495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59,0 %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55,8-62,2 %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&lt;0,00001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0568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s-ES" sz="1250" b="1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Nueva York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Bedford-Stuyvesant / Alojamiento completo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1.591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60,9 %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59,3-62,2 %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&lt;0,00001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80616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s-ES" sz="1250" b="1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Sídney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Leichhardt / Habitación privada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290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58,9 %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55,4-62,6 %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&lt;0,00001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30505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s-ES" sz="1250" b="1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Tokio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Nakano Ku / Habitación privada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55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70,4 %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62,9-77,7 %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0">
                          <a:solidFill>
                            <a:srgbClr val="222222"/>
                          </a:solidFill>
                          <a:latin typeface="Aptos" panose="020B0004020202020204" pitchFamily="34" charset="0"/>
                        </a:rPr>
                        <a:t>0,00243</a:t>
                      </a:r>
                    </a:p>
                  </a:txBody>
                  <a:tcPr marL="76200" marR="76200" marT="38100" marB="38100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07904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F916E5F6-5952-44A9-8BB3-5F4D5FEE8037}"/>
              </a:ext>
            </a:extLst>
          </p:cNvPr>
          <p:cNvSpPr txBox="1"/>
          <p:nvPr/>
        </p:nvSpPr>
        <p:spPr>
          <a:xfrm>
            <a:off x="736600" y="5740400"/>
            <a:ext cx="1060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200">
                <a:solidFill>
                  <a:srgbClr val="6A6A6A"/>
                </a:solidFill>
                <a:latin typeface="Aptos" panose="020B0004020202020204" pitchFamily="34" charset="0"/>
              </a:rPr>
              <a:t>Superioridad: probabilidad de que un anuncio del segmento supere a su referencia local en actividad histórica.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4CBDC3-5DEF-F2AB-46DE-AD2E7793A820}"/>
              </a:ext>
            </a:extLst>
          </p:cNvPr>
          <p:cNvSpPr txBox="1"/>
          <p:nvPr/>
        </p:nvSpPr>
        <p:spPr>
          <a:xfrm>
            <a:off x="685800" y="6413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Fuente: docs/analysis/executive-findings.md. Intervalos bootstrap por anfitrión.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6B20B7-AA15-CD47-AE2F-8DFE3FF45BF2}"/>
              </a:ext>
            </a:extLst>
          </p:cNvPr>
          <p:cNvSpPr txBox="1"/>
          <p:nvPr/>
        </p:nvSpPr>
        <p:spPr>
          <a:xfrm>
            <a:off x="11176000" y="64135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3509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FAB83D-2D6D-4A73-4AE2-3D758CECAE5C}"/>
              </a:ext>
            </a:extLst>
          </p:cNvPr>
          <p:cNvSpPr txBox="1"/>
          <p:nvPr/>
        </p:nvSpPr>
        <p:spPr>
          <a:xfrm>
            <a:off x="685800" y="406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 b="1">
                <a:solidFill>
                  <a:srgbClr val="222222"/>
                </a:solidFill>
                <a:latin typeface="Aptos Display" panose="020B0004020202020204" pitchFamily="34" charset="0"/>
              </a:rPr>
              <a:t>Power BI convierte el análisis en una conversación de negocio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BCBF5F-1CB6-6875-A361-210F93BC19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318009"/>
            <a:ext cx="7810500" cy="427278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10A8932-D164-EBD9-86CF-EE69337B0EB1}"/>
              </a:ext>
            </a:extLst>
          </p:cNvPr>
          <p:cNvSpPr txBox="1"/>
          <p:nvPr/>
        </p:nvSpPr>
        <p:spPr>
          <a:xfrm>
            <a:off x="8826500" y="15113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Decisión guiada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D0E295-F3C0-5148-30D8-29E3CB7522F1}"/>
              </a:ext>
            </a:extLst>
          </p:cNvPr>
          <p:cNvSpPr txBox="1"/>
          <p:nvPr/>
        </p:nvSpPr>
        <p:spPr>
          <a:xfrm>
            <a:off x="8826500" y="20447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600">
                <a:solidFill>
                  <a:srgbClr val="222222"/>
                </a:solidFill>
                <a:latin typeface="Aptos" panose="020B0004020202020204" pitchFamily="34" charset="0"/>
              </a:rPr>
              <a:t>El panel ordena candidatos y permite filtrar por ciudad, tipología y estado de evidencia.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0D40B0-D4F2-B606-E225-4D68FC248A1A}"/>
              </a:ext>
            </a:extLst>
          </p:cNvPr>
          <p:cNvSpPr txBox="1"/>
          <p:nvPr/>
        </p:nvSpPr>
        <p:spPr>
          <a:xfrm>
            <a:off x="8826500" y="36068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35648F"/>
                </a:solidFill>
                <a:latin typeface="Aptos Display" panose="020B0004020202020204" pitchFamily="34" charset="0"/>
              </a:rPr>
              <a:t>Confianza visible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3B7899-6668-60F5-9BD6-CF07A42D782E}"/>
              </a:ext>
            </a:extLst>
          </p:cNvPr>
          <p:cNvSpPr txBox="1"/>
          <p:nvPr/>
        </p:nvSpPr>
        <p:spPr>
          <a:xfrm>
            <a:off x="8826500" y="41402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600">
                <a:solidFill>
                  <a:srgbClr val="222222"/>
                </a:solidFill>
                <a:latin typeface="Aptos" panose="020B0004020202020204" pitchFamily="34" charset="0"/>
              </a:rPr>
              <a:t>Muestra, efecto, intervalo y valor ajustado acompañan cada recomendación.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37508E-3C54-CEA1-C69D-013270B6CA57}"/>
              </a:ext>
            </a:extLst>
          </p:cNvPr>
          <p:cNvSpPr txBox="1"/>
          <p:nvPr/>
        </p:nvSpPr>
        <p:spPr>
          <a:xfrm>
            <a:off x="685800" y="6413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Power BI Desktop sin licencia de pago. Modelo estrella y parámetro DataRoot para refresco portable.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2329861-3583-E625-8501-17F06F873B2F}"/>
              </a:ext>
            </a:extLst>
          </p:cNvPr>
          <p:cNvSpPr txBox="1"/>
          <p:nvPr/>
        </p:nvSpPr>
        <p:spPr>
          <a:xfrm>
            <a:off x="11176000" y="64135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900">
                <a:solidFill>
                  <a:srgbClr val="6A6A6A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0889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1879A9-F004-53A3-FCB8-07FAE6A0FA59}"/>
              </a:ext>
            </a:extLst>
          </p:cNvPr>
          <p:cNvSpPr txBox="1"/>
          <p:nvPr/>
        </p:nvSpPr>
        <p:spPr>
          <a:xfrm>
            <a:off x="685800" y="4064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Aptos Display" panose="020B0004020202020204" pitchFamily="34" charset="0"/>
              </a:rPr>
              <a:t>La siguiente decisión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85EB40-AF4E-8062-C310-262EC4DF2899}"/>
              </a:ext>
            </a:extLst>
          </p:cNvPr>
          <p:cNvSpPr txBox="1"/>
          <p:nvPr/>
        </p:nvSpPr>
        <p:spPr>
          <a:xfrm>
            <a:off x="787400" y="14986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3000" b="1">
                <a:solidFill>
                  <a:srgbClr val="FFFFFF"/>
                </a:solidFill>
                <a:latin typeface="Aptos Display" panose="020B0004020202020204" pitchFamily="34" charset="0"/>
              </a:rPr>
              <a:t>Validar con datos internos y actuales los cinco segmentos prioritarios.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EAC1F8F-7016-8C63-3DFE-F909ADD29D02}"/>
              </a:ext>
            </a:extLst>
          </p:cNvPr>
          <p:cNvSpPr txBox="1"/>
          <p:nvPr/>
        </p:nvSpPr>
        <p:spPr>
          <a:xfrm>
            <a:off x="787400" y="30353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>
                <a:solidFill>
                  <a:srgbClr val="FFFFFF"/>
                </a:solidFill>
                <a:latin typeface="Aptos" panose="020B0004020202020204" pitchFamily="34" charset="0"/>
              </a:rPr>
              <a:t>Nueva York y Sídney ofrecen mayor escala de candidatos. Tokio muestra un efecto alto con una muestra reducida. Londres permanece en observación.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FF8686-8017-4F3F-66D6-E41AC52751DA}"/>
              </a:ext>
            </a:extLst>
          </p:cNvPr>
          <p:cNvSpPr txBox="1"/>
          <p:nvPr/>
        </p:nvSpPr>
        <p:spPr>
          <a:xfrm>
            <a:off x="787400" y="4851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 b="1">
                <a:solidFill>
                  <a:srgbClr val="FF385C"/>
                </a:solidFill>
                <a:latin typeface="Aptos" panose="020B0004020202020204" pitchFamily="34" charset="0"/>
              </a:rPr>
              <a:t>Antes de una campaña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202185-0C89-7346-2139-7945D23EAADC}"/>
              </a:ext>
            </a:extLst>
          </p:cNvPr>
          <p:cNvSpPr txBox="1"/>
          <p:nvPr/>
        </p:nvSpPr>
        <p:spPr>
          <a:xfrm>
            <a:off x="787400" y="53086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>
                <a:solidFill>
                  <a:srgbClr val="FFFFFF"/>
                </a:solidFill>
                <a:latin typeface="Aptos" panose="020B0004020202020204" pitchFamily="34" charset="0"/>
              </a:rPr>
              <a:t>Cruzar la priorización con reservas, ocupación, inventario vigente, costes y margen.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21D5B7-424F-53EC-C196-2DB4360642B8}"/>
              </a:ext>
            </a:extLst>
          </p:cNvPr>
          <p:cNvSpPr txBox="1"/>
          <p:nvPr/>
        </p:nvSpPr>
        <p:spPr>
          <a:xfrm>
            <a:off x="8191500" y="1536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C99B42"/>
                </a:solidFill>
                <a:latin typeface="Aptos Display" panose="020B0004020202020204" pitchFamily="34" charset="0"/>
              </a:rPr>
              <a:t>Alcance de la evidencia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038CB0D-FE71-6E9D-21DE-F4D2AC24A501}"/>
              </a:ext>
            </a:extLst>
          </p:cNvPr>
          <p:cNvSpPr txBox="1"/>
          <p:nvPr/>
        </p:nvSpPr>
        <p:spPr>
          <a:xfrm>
            <a:off x="8191500" y="2120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>
                <a:solidFill>
                  <a:srgbClr val="FFFFFF"/>
                </a:solidFill>
                <a:latin typeface="Aptos" panose="020B0004020202020204" pitchFamily="34" charset="0"/>
              </a:rPr>
              <a:t>Los CSV permiten estudiar oferta y actividad histórica. No permiten afirmar causalidad, demanda actual ni rentabilidad.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1C4B6D-20E4-1782-CC61-02A8334604A8}"/>
              </a:ext>
            </a:extLst>
          </p:cNvPr>
          <p:cNvSpPr txBox="1"/>
          <p:nvPr/>
        </p:nvSpPr>
        <p:spPr>
          <a:xfrm>
            <a:off x="8191500" y="4216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2000" b="1">
                <a:solidFill>
                  <a:srgbClr val="FF385C"/>
                </a:solidFill>
                <a:latin typeface="Aptos Display" panose="020B0004020202020204" pitchFamily="34" charset="0"/>
              </a:rPr>
              <a:t>Entrega disponible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D1D71B-99E1-0992-B131-6AF9EB4D49D8}"/>
              </a:ext>
            </a:extLst>
          </p:cNvPr>
          <p:cNvSpPr txBox="1"/>
          <p:nvPr/>
        </p:nvSpPr>
        <p:spPr>
          <a:xfrm>
            <a:off x="8191500" y="47752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1700">
                <a:solidFill>
                  <a:srgbClr val="FFFFFF"/>
                </a:solidFill>
                <a:latin typeface="Aptos" panose="020B0004020202020204" pitchFamily="34" charset="0"/>
              </a:rPr>
              <a:t>Notebooks, dashboard, documentación, pruebas y ejecución con Docker.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DCB3F6F-47E3-FEEF-44A3-2CF603000CAE}"/>
              </a:ext>
            </a:extLst>
          </p:cNvPr>
          <p:cNvSpPr txBox="1"/>
          <p:nvPr/>
        </p:nvSpPr>
        <p:spPr>
          <a:xfrm>
            <a:off x="685800" y="64135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s-ES" sz="900">
                <a:solidFill>
                  <a:srgbClr val="FFFFFF"/>
                </a:solidFill>
                <a:latin typeface="Aptos" panose="020B0004020202020204" pitchFamily="34" charset="0"/>
              </a:rPr>
              <a:t>Recomendación para investigación comercial, no una orden automática de captación.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A5FE676-E532-25E7-8831-2D9AA1F9C279}"/>
              </a:ext>
            </a:extLst>
          </p:cNvPr>
          <p:cNvSpPr txBox="1"/>
          <p:nvPr/>
        </p:nvSpPr>
        <p:spPr>
          <a:xfrm>
            <a:off x="11176000" y="6413500"/>
            <a:ext cx="33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s-ES" sz="900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56798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</Words>
  <Application>Microsoft Office PowerPoint</Application>
  <PresentationFormat>Personalizado</PresentationFormat>
  <Paragraphs>132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user01</dc:creator>
  <cp:lastModifiedBy>user01</cp:lastModifiedBy>
  <cp:revision>1</cp:revision>
  <dcterms:created xsi:type="dcterms:W3CDTF">2026-09-08T09:45:37Z</dcterms:created>
  <dcterms:modified xsi:type="dcterms:W3CDTF">2026-09-08T09:45:37Z</dcterms:modified>
</cp:coreProperties>
</file>