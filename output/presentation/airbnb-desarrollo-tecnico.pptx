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3.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4.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8209a3128204ccf" /><Relationship Type="http://schemas.openxmlformats.org/officeDocument/2006/relationships/extended-properties" Target="/docProps/app.xml" Id="Rf2c2848d72564556" /><Relationship Type="http://schemas.openxmlformats.org/officeDocument/2006/relationships/officeDocument" Target="/ppt/presentation.xml" Id="Reda8e8907e2f4c49" /></Relationships>
</file>

<file path=ppt/presentation.xml><?xml version="1.0" encoding="utf-8"?>
<p:presentation xmlns:p="http://schemas.openxmlformats.org/presentationml/2006/main">
  <p:sldMasterIdLst>
    <p:sldMasterId xmlns:r="http://schemas.openxmlformats.org/officeDocument/2006/relationships" id="2147483648" r:id="R4089590b016b444e"/>
  </p:sldMasterIdLst>
  <p:notesMasterIdLst>
    <p:notesMasterId xmlns:r="http://schemas.openxmlformats.org/officeDocument/2006/relationships" r:id="R5d7073052f2c4b3b"/>
  </p:notesMasterIdLst>
  <p:sldIdLst>
    <p:sldId xmlns:r="http://schemas.openxmlformats.org/officeDocument/2006/relationships" id="256" r:id="R630b78d0b25a4156"/>
    <p:sldId xmlns:r="http://schemas.openxmlformats.org/officeDocument/2006/relationships" id="257" r:id="R4cf0aabadef04f3d"/>
    <p:sldId xmlns:r="http://schemas.openxmlformats.org/officeDocument/2006/relationships" id="258" r:id="Rb905075e154f4f6d"/>
    <p:sldId xmlns:r="http://schemas.openxmlformats.org/officeDocument/2006/relationships" id="259" r:id="R0711ab80ba844569"/>
    <p:sldId xmlns:r="http://schemas.openxmlformats.org/officeDocument/2006/relationships" id="260" r:id="R23003c5edd694322"/>
    <p:sldId xmlns:r="http://schemas.openxmlformats.org/officeDocument/2006/relationships" id="261" r:id="R8fb3763906504497"/>
    <p:sldId xmlns:r="http://schemas.openxmlformats.org/officeDocument/2006/relationships" id="262" r:id="R3a88d42aee694311"/>
    <p:sldId xmlns:r="http://schemas.openxmlformats.org/officeDocument/2006/relationships" id="263" r:id="Rc0c46680b26e460f"/>
    <p:sldId xmlns:r="http://schemas.openxmlformats.org/officeDocument/2006/relationships" id="264" r:id="R34fe926fa28c4f1d"/>
    <p:sldId xmlns:r="http://schemas.openxmlformats.org/officeDocument/2006/relationships" id="265" r:id="R111e27f6e8404080"/>
    <p:sldId xmlns:r="http://schemas.openxmlformats.org/officeDocument/2006/relationships" id="266" r:id="R2fc72320a2924966"/>
    <p:sldId xmlns:r="http://schemas.openxmlformats.org/officeDocument/2006/relationships" id="267" r:id="R429235d2a9394e60"/>
    <p:sldId xmlns:r="http://schemas.openxmlformats.org/officeDocument/2006/relationships" id="268" r:id="R09c625430622430a"/>
    <p:sldId xmlns:r="http://schemas.openxmlformats.org/officeDocument/2006/relationships" id="269" r:id="Rfe0bc0ccf3de4b6d"/>
    <p:sldId xmlns:r="http://schemas.openxmlformats.org/officeDocument/2006/relationships" id="270" r:id="R210be001ef31435b"/>
    <p:sldId xmlns:r="http://schemas.openxmlformats.org/officeDocument/2006/relationships" id="271" r:id="R99987d2a57264ac6"/>
    <p:sldId xmlns:r="http://schemas.openxmlformats.org/officeDocument/2006/relationships" id="272" r:id="Re03d699be5284fe4"/>
    <p:sldId xmlns:r="http://schemas.openxmlformats.org/officeDocument/2006/relationships" id="273" r:id="Rc24d920745594d7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19e3b190c704e13" /><Relationship Type="http://schemas.openxmlformats.org/officeDocument/2006/relationships/slideMaster" Target="/ppt/slideMasters/slideMaster1.xml" Id="R4089590b016b444e" /><Relationship Type="http://schemas.openxmlformats.org/officeDocument/2006/relationships/notesMaster" Target="/ppt/notesMasters/notesMaster1.xml" Id="R5d7073052f2c4b3b" /><Relationship Type="http://schemas.openxmlformats.org/officeDocument/2006/relationships/presProps" Target="/ppt/presProps.xml" Id="R52a6c44349fd4973" /><Relationship Type="http://schemas.openxmlformats.org/officeDocument/2006/relationships/tableStyles" Target="/ppt/tableStyles.xml" Id="R443371f03f4b450a" /><Relationship Type="http://schemas.openxmlformats.org/officeDocument/2006/relationships/slide" Target="/ppt/slides/slide1.xml" Id="R630b78d0b25a4156" /><Relationship Type="http://schemas.openxmlformats.org/officeDocument/2006/relationships/slide" Target="/ppt/slides/slide2.xml" Id="R4cf0aabadef04f3d" /><Relationship Type="http://schemas.openxmlformats.org/officeDocument/2006/relationships/slide" Target="/ppt/slides/slide3.xml" Id="Rb905075e154f4f6d" /><Relationship Type="http://schemas.openxmlformats.org/officeDocument/2006/relationships/slide" Target="/ppt/slides/slide4.xml" Id="R0711ab80ba844569" /><Relationship Type="http://schemas.openxmlformats.org/officeDocument/2006/relationships/slide" Target="/ppt/slides/slide5.xml" Id="R23003c5edd694322" /><Relationship Type="http://schemas.openxmlformats.org/officeDocument/2006/relationships/slide" Target="/ppt/slides/slide6.xml" Id="R8fb3763906504497" /><Relationship Type="http://schemas.openxmlformats.org/officeDocument/2006/relationships/slide" Target="/ppt/slides/slide7.xml" Id="R3a88d42aee694311" /><Relationship Type="http://schemas.openxmlformats.org/officeDocument/2006/relationships/slide" Target="/ppt/slides/slide8.xml" Id="Rc0c46680b26e460f" /><Relationship Type="http://schemas.openxmlformats.org/officeDocument/2006/relationships/slide" Target="/ppt/slides/slide9.xml" Id="R34fe926fa28c4f1d" /><Relationship Type="http://schemas.openxmlformats.org/officeDocument/2006/relationships/slide" Target="/ppt/slides/slide10.xml" Id="R111e27f6e8404080" /><Relationship Type="http://schemas.openxmlformats.org/officeDocument/2006/relationships/slide" Target="/ppt/slides/slide11.xml" Id="R2fc72320a2924966" /><Relationship Type="http://schemas.openxmlformats.org/officeDocument/2006/relationships/slide" Target="/ppt/slides/slide12.xml" Id="R429235d2a9394e60" /><Relationship Type="http://schemas.openxmlformats.org/officeDocument/2006/relationships/slide" Target="/ppt/slides/slide13.xml" Id="R09c625430622430a" /><Relationship Type="http://schemas.openxmlformats.org/officeDocument/2006/relationships/slide" Target="/ppt/slides/slide14.xml" Id="Rfe0bc0ccf3de4b6d" /><Relationship Type="http://schemas.openxmlformats.org/officeDocument/2006/relationships/slide" Target="/ppt/slides/slide15.xml" Id="R210be001ef31435b" /><Relationship Type="http://schemas.openxmlformats.org/officeDocument/2006/relationships/slide" Target="/ppt/slides/slide16.xml" Id="R99987d2a57264ac6" /><Relationship Type="http://schemas.openxmlformats.org/officeDocument/2006/relationships/slide" Target="/ppt/slides/slide17.xml" Id="Re03d699be5284fe4" /><Relationship Type="http://schemas.openxmlformats.org/officeDocument/2006/relationships/slide" Target="/ppt/slides/slide18.xml" Id="Rc24d920745594d7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5470490d377479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8277269565a4e3f" /><Relationship Type="http://schemas.openxmlformats.org/officeDocument/2006/relationships/notesMaster" Target="/ppt/notesMasters/notesMaster1.xml" Id="R14af496bcd9444c9" /></Relationships>
</file>

<file path=ppt/notesSlides/_rels/notesSlide2.xml.rels>&#65279;<?xml version="1.0" encoding="utf-8"?><Relationships xmlns="http://schemas.openxmlformats.org/package/2006/relationships"><Relationship Type="http://schemas.openxmlformats.org/officeDocument/2006/relationships/slide" Target="/ppt/slides/slide2.xml" Id="R0fc45e0b64154f15" /><Relationship Type="http://schemas.openxmlformats.org/officeDocument/2006/relationships/notesMaster" Target="/ppt/notesMasters/notesMaster1.xml" Id="Rce5771d388174677" /></Relationships>
</file>

<file path=ppt/notesSlides/_rels/notesSlide3.xml.rels>&#65279;<?xml version="1.0" encoding="utf-8"?><Relationships xmlns="http://schemas.openxmlformats.org/package/2006/relationships"><Relationship Type="http://schemas.openxmlformats.org/officeDocument/2006/relationships/slide" Target="/ppt/slides/slide3.xml" Id="R825c3c75481543f0" /><Relationship Type="http://schemas.openxmlformats.org/officeDocument/2006/relationships/notesMaster" Target="/ppt/notesMasters/notesMaster1.xml" Id="Rf074fd6c3c034c7d" /></Relationships>
</file>

<file path=ppt/notesSlides/_rels/notesSlide4.xml.rels>&#65279;<?xml version="1.0" encoding="utf-8"?><Relationships xmlns="http://schemas.openxmlformats.org/package/2006/relationships"><Relationship Type="http://schemas.openxmlformats.org/officeDocument/2006/relationships/slide" Target="/ppt/slides/slide4.xml" Id="R44ac2ee25b924317" /><Relationship Type="http://schemas.openxmlformats.org/officeDocument/2006/relationships/notesMaster" Target="/ppt/notesMasters/notesMaster1.xml" Id="R41750ccc45514690" /></Relationships>
</file>

<file path=ppt/notesSlides/_rels/notesSlide5.xml.rels>&#65279;<?xml version="1.0" encoding="utf-8"?><Relationships xmlns="http://schemas.openxmlformats.org/package/2006/relationships"><Relationship Type="http://schemas.openxmlformats.org/officeDocument/2006/relationships/slide" Target="/ppt/slides/slide5.xml" Id="Rfdcba9bfee6d42d9" /><Relationship Type="http://schemas.openxmlformats.org/officeDocument/2006/relationships/notesMaster" Target="/ppt/notesMasters/notesMaster1.xml" Id="R04b6c543930a4c11" /></Relationships>
</file>

<file path=ppt/notesSlides/_rels/notesSlide6.xml.rels>&#65279;<?xml version="1.0" encoding="utf-8"?><Relationships xmlns="http://schemas.openxmlformats.org/package/2006/relationships"><Relationship Type="http://schemas.openxmlformats.org/officeDocument/2006/relationships/slide" Target="/ppt/slides/slide6.xml" Id="R4bf8608c5f264acb" /><Relationship Type="http://schemas.openxmlformats.org/officeDocument/2006/relationships/notesMaster" Target="/ppt/notesMasters/notesMaster1.xml" Id="R3824a10e70b449df" /></Relationships>
</file>

<file path=ppt/notesSlides/_rels/notesSlide7.xml.rels>&#65279;<?xml version="1.0" encoding="utf-8"?><Relationships xmlns="http://schemas.openxmlformats.org/package/2006/relationships"><Relationship Type="http://schemas.openxmlformats.org/officeDocument/2006/relationships/slide" Target="/ppt/slides/slide7.xml" Id="Rc0cd674db3354896" /><Relationship Type="http://schemas.openxmlformats.org/officeDocument/2006/relationships/notesMaster" Target="/ppt/notesMasters/notesMaster1.xml" Id="Rc4f8e8372adf475f" /></Relationships>
</file>

<file path=ppt/notesSlides/_rels/notesSlide8.xml.rels>&#65279;<?xml version="1.0" encoding="utf-8"?><Relationships xmlns="http://schemas.openxmlformats.org/package/2006/relationships"><Relationship Type="http://schemas.openxmlformats.org/officeDocument/2006/relationships/slide" Target="/ppt/slides/slide8.xml" Id="R423061dcbaf84e0b" /><Relationship Type="http://schemas.openxmlformats.org/officeDocument/2006/relationships/notesMaster" Target="/ppt/notesMasters/notesMaster1.xml" Id="R2f94ec9f35b143ca" /></Relationships>
</file>

<file path=ppt/notesSlides/_rels/notesSlide9.xml.rels>&#65279;<?xml version="1.0" encoding="utf-8"?><Relationships xmlns="http://schemas.openxmlformats.org/package/2006/relationships"><Relationship Type="http://schemas.openxmlformats.org/officeDocument/2006/relationships/slide" Target="/ppt/slides/slide9.xml" Id="Rad844719469645ef" /><Relationship Type="http://schemas.openxmlformats.org/officeDocument/2006/relationships/notesMaster" Target="/ppt/notesMasters/notesMaster1.xml" Id="Rac2d8ce94a15462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a52eb2c2ec74806" /><Relationship Type="http://schemas.openxmlformats.org/officeDocument/2006/relationships/notesMaster" Target="/ppt/notesMasters/notesMaster1.xml" Id="Rfee0bf32cace497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43c19be20f44b74" /><Relationship Type="http://schemas.openxmlformats.org/officeDocument/2006/relationships/notesMaster" Target="/ppt/notesMasters/notesMaster1.xml" Id="Rd1f344564d50484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54aa869fb4546a4" /><Relationship Type="http://schemas.openxmlformats.org/officeDocument/2006/relationships/notesMaster" Target="/ppt/notesMasters/notesMaster1.xml" Id="R29f61e965852437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bcf19fd77dc4cd5" /><Relationship Type="http://schemas.openxmlformats.org/officeDocument/2006/relationships/notesMaster" Target="/ppt/notesMasters/notesMaster1.xml" Id="Reeac80c97c5543d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ab44b5c94e64c56" /><Relationship Type="http://schemas.openxmlformats.org/officeDocument/2006/relationships/notesMaster" Target="/ppt/notesMasters/notesMaster1.xml" Id="R71ffe5358e2443f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223eb8f17404e51" /><Relationship Type="http://schemas.openxmlformats.org/officeDocument/2006/relationships/notesMaster" Target="/ppt/notesMasters/notesMaster1.xml" Id="R26e62f2ad79f499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5b445dc44b84363" /><Relationship Type="http://schemas.openxmlformats.org/officeDocument/2006/relationships/notesMaster" Target="/ppt/notesMasters/notesMaster1.xml" Id="R601ab6ae7daa4d8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4973d939de64072" /><Relationship Type="http://schemas.openxmlformats.org/officeDocument/2006/relationships/notesMaster" Target="/ppt/notesMasters/notesMaster1.xml" Id="R3bcbad9cf372444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a1f285ad1f04283" /><Relationship Type="http://schemas.openxmlformats.org/officeDocument/2006/relationships/notesMaster" Target="/ppt/notesMasters/notesMaster1.xml" Id="R645ece0a9476434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Presentación técnica del proyecto educativo. El resultado es una priorización reproducible para investigación comercial. Las fuentes no permiten estimar demanda actual ni resultados económicos.</a:t>
            </a:r>
          </a:p>
          <a:p xmlns:a="http://schemas.openxmlformats.org/drawingml/2006/main">
            <a:r>
              <a:t/>
            </a:r>
          </a:p>
          <a:p xmlns:a="http://schemas.openxmlformats.org/drawingml/2006/main">
            <a:r>
              <a:t>Fuentes del repositorio: README.md; pyproject.toml. Build FDAAB53F8317CAD7. Revisión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pregunta combina ciudad, barrio y tipología. El trabajo integra fuentes heterogéneas, conserva su trazabilidad, estudia la actividad histórica y comunica la incertidumbre. La decisión final requiere investigación comercial con datos vigentes.</a:t>
            </a:r>
          </a:p>
          <a:p xmlns:a="http://schemas.openxmlformats.org/drawingml/2006/main">
            <a:r>
              <a:t/>
            </a:r>
          </a:p>
          <a:p xmlns:a="http://schemas.openxmlformats.org/drawingml/2006/main">
            <a:r>
              <a:t>Fuentes del repositorio: README.md; config/analysis.yml. Build FDAAB53F8317CAD7. Revisión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seis fuentes contienen 220.031 anuncios. Sus tamaños son desiguales. No se conoce la fecha de extracción ni la representatividad del mercado completo. El SHA-256 valida la identidad de la copia recibida, no su actualidad.</a:t>
            </a:r>
          </a:p>
          <a:p xmlns:a="http://schemas.openxmlformats.org/drawingml/2006/main">
            <a:r>
              <a:t/>
            </a:r>
          </a:p>
          <a:p xmlns:a="http://schemas.openxmlformats.org/drawingml/2006/main">
            <a:r>
              <a:t>Fuentes del repositorio: config/source-manifest.json; notebooks/01_data_audit.ipynb. Build FDAAB53F8317CAD7. Revisión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CLI coordina las etapas inventory, audit, build, analyze y export. La publicación pasa por validación y los consumidores leen resultados ya calculados. Los notebooks documentan y visualizan el build. Los datos raw permanecen inmutables.</a:t>
            </a:r>
          </a:p>
          <a:p xmlns:a="http://schemas.openxmlformats.org/drawingml/2006/main">
            <a:r>
              <a:t/>
            </a:r>
          </a:p>
          <a:p xmlns:a="http://schemas.openxmlformats.org/drawingml/2006/main">
            <a:r>
              <a:t>Fuentes del repositorio: src/airbnb_supply_analysis/cli.py; README.md. Build FDAAB53F8317CAD7. Revisión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lista describe dependencias y componentes presentes en el repositorio. Python 3.13 y uv.lock fijan el entorno. Pandera valida datos y PyArrow permite Parquet. SciPy y statsmodels implementan estadística. El panel Streamlit utiliza las exportaciones seguras del pipeline.</a:t>
            </a:r>
          </a:p>
          <a:p xmlns:a="http://schemas.openxmlformats.org/drawingml/2006/main">
            <a:r>
              <a:t/>
            </a:r>
          </a:p>
          <a:p xmlns:a="http://schemas.openxmlformats.org/drawingml/2006/main">
            <a:r>
              <a:t>Fuentes del repositorio: pyproject.toml; uv.lock; Dockerfile; powerbi/README.md. Build FDAAB53F8317CAD7. Revisión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 conservan 220.031 entradas. La clave listing_key es única. Se derivan ceros únicamente cuando falta la tasa y el número de reseñas es cero. Las 123 tasas desconocidas tienen reseñas positivas. Los precios no positivos quedan fuera solo de métricas de precio y los outliers se conservan con indicadores.</a:t>
            </a:r>
          </a:p>
          <a:p xmlns:a="http://schemas.openxmlformats.org/drawingml/2006/main">
            <a:r>
              <a:t/>
            </a:r>
          </a:p>
          <a:p xmlns:a="http://schemas.openxmlformats.org/drawingml/2006/main">
            <a:r>
              <a:t>Fuentes del repositorio: notebooks/02_etl.ipynb; src/airbnb_supply_analysis/etl.py. Build FDAAB53F8317CAD7. Revisión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notebooks consumen los artefactos del pipeline. La ejecución se realiza en orden y en kernels separados. El generador conserva ahora la exploración geográfica y las conclusiones revisadas. Una prueba compara su contenido con los notebooks versionados para evitar pérdidas al regenerar.</a:t>
            </a:r>
          </a:p>
          <a:p xmlns:a="http://schemas.openxmlformats.org/drawingml/2006/main">
            <a:r>
              <a:t/>
            </a:r>
          </a:p>
          <a:p xmlns:a="http://schemas.openxmlformats.org/drawingml/2006/main">
            <a:r>
              <a:t>Fuentes del repositorio: notebooks/; scripts/generate_notebooks.py; src/airbnb_supply_analysis/notebooks.py. Build FDAAB53F8317CAD7. Revisión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H1 compara tipologías por ciudad con Kruskal-Wallis y epsilon cuadrado, ajustando por Holm. H2 compara las medianas de actividad por anfitrión del segmento y del resto de la misma ciudad y tipología mediante Mann-Whitney, superioridad e IC bootstrap por anfitrión, con BH. H3 estudia asociaciones de Spearman. El modelo en dos partes complementa la sensibilidad, sin interpretación causal. Un mismo anfitrión podría aparecer en ambos grupos locales y merece revisión adicional de dependencia.</a:t>
            </a:r>
          </a:p>
          <a:p xmlns:a="http://schemas.openxmlformats.org/drawingml/2006/main">
            <a:r>
              <a:t/>
            </a:r>
          </a:p>
          <a:p xmlns:a="http://schemas.openxmlformats.org/drawingml/2006/main">
            <a:r>
              <a:t>Fuentes del repositorio: src/airbnb_supply_analysis/statistics.py; config/analysis.yml. Build FDAAB53F8317CAD7. Revisión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clasificación exige al menos 30 anuncios analizables y 10 con actividad positiva. La evidencia exige superioridad de al menos 0,56, límite inferior del IC mayor que 0,5, q menor que 0,05 y sensibilidades robustas. Una cuota local menor que la de ciudad distingue candidate de consolidated. El orden entre candidatos se basa primero en número de anuncios, después en efecto y clave de desempate.</a:t>
            </a:r>
          </a:p>
          <a:p xmlns:a="http://schemas.openxmlformats.org/drawingml/2006/main">
            <a:r>
              <a:t/>
            </a:r>
          </a:p>
          <a:p xmlns:a="http://schemas.openxmlformats.org/drawingml/2006/main">
            <a:r>
              <a:t>Fuentes del repositorio: src/airbnb_supply_analysis/opportunity.py; config/analysis.yml. Build FDAAB53F8317CAD7. Revisión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recuento actualizado es 28 y corrige el 29 del resumen anterior del notebook. Sídney aporta 13 y Nueva York 12. Juntas representan 25/28, el 89,3 %. La concentración describe las fuentes y las reglas aplicadas, no una cuota de mercado ni una comparación causal entre ciudades.</a:t>
            </a:r>
          </a:p>
          <a:p xmlns:a="http://schemas.openxmlformats.org/drawingml/2006/main">
            <a:r>
              <a:t/>
            </a:r>
          </a:p>
          <a:p xmlns:a="http://schemas.openxmlformats.org/drawingml/2006/main">
            <a:r>
              <a:t>Fuentes del repositorio: data/processed/opportunity_segments.parquet; notebooks/03_executive_eda.ipynb. Build FDAAB53F8317CAD7. Revisión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selección usa el rango oficial dentro de cada ciudad. N cuenta anuncios, mientras que el contraste y la superioridad usan medianas por anfitrión. Los cinco candidatos cumplen q menor que 0,05 y sensibilidades robustas. El efecto de Nakano Ku es mayor, pero su N de 55 y el IC más ancho deben permanecer visibles.</a:t>
            </a:r>
          </a:p>
          <a:p xmlns:a="http://schemas.openxmlformats.org/drawingml/2006/main">
            <a:r>
              <a:t/>
            </a:r>
          </a:p>
          <a:p xmlns:a="http://schemas.openxmlformats.org/drawingml/2006/main">
            <a:r>
              <a:t>Fuentes del repositorio: data/processed/opportunity_segments.parquet; src/airbnb_supply_analysis/statistics.py. Build FDAAB53F8317CAD7. Revisión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brecha compara la cuota de una tipología entre los anuncios de toda la ciudad con su cuota entre los anuncios del barrio. Se resta cuota barrio a cuota ciudad y se multiplica por 100. Los valores exactos provienen del Parquet. Una menor presencia relativa no prueba escasez de oferta, saturación o necesidades comerciales sin cubrir.</a:t>
            </a:r>
          </a:p>
          <a:p xmlns:a="http://schemas.openxmlformats.org/drawingml/2006/main">
            <a:r>
              <a:t/>
            </a:r>
          </a:p>
          <a:p xmlns:a="http://schemas.openxmlformats.org/drawingml/2006/main">
            <a:r>
              <a:t>Fuentes del repositorio: notebooks/03_executive_eda.ipynb, sección 6; data/processed/opportunity_segments.parquet. Build FDAAB53F8317CAD7. Revisión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notebook incorpora una matriz de brechas de hasta tres candidatos por ciudad y un mapa interactivo de los 28 centroides disponibles. Cada centroide se obtiene de coordenadas válidas agregadas mediante mediana. Las combinaciones no seleccionadas permanecen vacías en la matriz. La nueva selección elimina el sesgo de ordenar por ciudad y aplicar head(12) globalmente. Se retira el score ad hoc porque mezclaba actividad, cuota, efecto y tamaño sin validación.</a:t>
            </a:r>
          </a:p>
          <a:p xmlns:a="http://schemas.openxmlformats.org/drawingml/2006/main">
            <a:r>
              <a:t/>
            </a:r>
          </a:p>
          <a:p xmlns:a="http://schemas.openxmlformats.org/drawingml/2006/main">
            <a:r>
              <a:t>Fuentes del repositorio: notebooks/03_executive_eda.ipynb, secciones 6 y 7; src/airbnb_supply_analysis/opportunity.py. Build FDAAB53F8317CAD7. Revisión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contrastes globales por tipología tienen p ajustada inferior a 0,05 en las seis ciudades. Sin embargo, epsilon cuadrado es casi nulo en Londres y Nueva York. Los resultados globales no sustituyen los contrastes locales: Nueva York conserva 12 candidatos pese al efecto global mínimo. Epsilon cuadrado se muestra como magnitud descriptiva de efecto, sin convertirlo en explicación causal.</a:t>
            </a:r>
          </a:p>
          <a:p xmlns:a="http://schemas.openxmlformats.org/drawingml/2006/main">
            <a:r>
              <a:t/>
            </a:r>
          </a:p>
          <a:p xmlns:a="http://schemas.openxmlformats.org/drawingml/2006/main">
            <a:r>
              <a:t>Fuentes del repositorio: data/processed/statistical_results.parquet, method=kruskal_wallis. Build FDAAB53F8317CAD7. Revisión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correlaciones son de Spearman y se calculan dentro de cada ciudad. El precio tiene asociación negativa en cinco ciudades y positiva en Tokio. Las noches mínimas se asocian negativamente en las seis, con mayor magnitud en Sídney. La tabla no estima cambios de reservas provocados por reducir precio o estancia mínima.</a:t>
            </a:r>
          </a:p>
          <a:p xmlns:a="http://schemas.openxmlformats.org/drawingml/2006/main">
            <a:r>
              <a:t/>
            </a:r>
          </a:p>
          <a:p xmlns:a="http://schemas.openxmlformats.org/drawingml/2006/main">
            <a:r>
              <a:t>Fuentes del repositorio: data/processed/statistical_results.parquet, method=spearman. Build FDAAB53F8317CAD7. Revisión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Power BI Desktop utiliza ocho CSV y un modelo estrella. Streamlit lee las mismas exportaciones seguras con filtros coordinados y vistas de resumen, oportunidad y evidencia. El panel no recalcula pruebas sobre selecciones arbitrarias. Docker Compose separa pipeline y dashboard y monta data/powerbi en solo lectura para el panel.</a:t>
            </a:r>
          </a:p>
          <a:p xmlns:a="http://schemas.openxmlformats.org/drawingml/2006/main">
            <a:r>
              <a:t/>
            </a:r>
          </a:p>
          <a:p xmlns:a="http://schemas.openxmlformats.org/drawingml/2006/main">
            <a:r>
              <a:t>Fuentes del repositorio: powerbi/README.md; dashboard/app.py; compose.yaml. Build FDAAB53F8317CAD7. Revisión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repetir todo el flujo hacen falta Python 3.13, uv y las seis fuentes en data/raw. uv sync usa el lockfile. all ejecuta el flujo integrado. notebooks vuelve a ejecutar los tres notebooks sobre artefactos existentes. pytest incluye pruebas de datos completos y comprobaciones Docker que requieren su entorno operativo. El generador se conserva junto con la prueba de paridad de contenido.</a:t>
            </a:r>
          </a:p>
          <a:p xmlns:a="http://schemas.openxmlformats.org/drawingml/2006/main">
            <a:r>
              <a:t/>
            </a:r>
          </a:p>
          <a:p xmlns:a="http://schemas.openxmlformats.org/drawingml/2006/main">
            <a:r>
              <a:t>Fuentes del repositorio: README.md; pyproject.toml; tests/; scripts/generate_notebooks.py. Build FDAAB53F8317CAD7. Revisión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entrega identifica 28 candidatos mediante reglas explícitas. La nueva exploración geográfica añade ubicación y brecha de cuota sin modificar el criterio estadístico. La captación debe contrastarse con información interna actual sobre búsquedas, reservas, conversión, ocupación, costes y capacidad real. No se conoce moneda comparable, fecha de extracción, licencia ni universo completo. El precio solo se compara dentro de ciudad.</a:t>
            </a:r>
          </a:p>
          <a:p xmlns:a="http://schemas.openxmlformats.org/drawingml/2006/main">
            <a:r>
              <a:t/>
            </a:r>
          </a:p>
          <a:p xmlns:a="http://schemas.openxmlformats.org/drawingml/2006/main">
            <a:r>
              <a:t>Fuentes del repositorio: README.md; docs/analysis/executive-findings.md; notebooks/03_executive_eda.ipynb. Build FDAAB53F8317CAD7. Revisión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48a2e3341984cb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97ee44c1be741a4" /><Relationship Type="http://schemas.openxmlformats.org/officeDocument/2006/relationships/slideLayout" Target="/ppt/slideLayouts/slideLayout1.xml" Id="R0eeeebf73b1a494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eeeebf73b1a494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905dd1fb2624695" /><Relationship Type="http://schemas.openxmlformats.org/officeDocument/2006/relationships/notesSlide" Target="/ppt/notesSlides/notesSlide1.xml" Id="R2652cdb7c54c4f8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8c2d853b58d447b" /><Relationship Type="http://schemas.openxmlformats.org/officeDocument/2006/relationships/notesSlide" Target="/ppt/notesSlides/notesSlide2.xml" Id="R4c2b86c0991a4ae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b6724a439eb4d8a" /><Relationship Type="http://schemas.openxmlformats.org/officeDocument/2006/relationships/chart" Target="/ppt/slides/charts/chart1.xml" Id="Rabbe17ad441f4ee9" /><Relationship Type="http://schemas.openxmlformats.org/officeDocument/2006/relationships/notesSlide" Target="/ppt/notesSlides/notesSlide3.xml" Id="R812308fb0c3e459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42ccd5165774443" /><Relationship Type="http://schemas.openxmlformats.org/officeDocument/2006/relationships/notesSlide" Target="/ppt/notesSlides/notesSlide4.xml" Id="Rf80b0d0218d34c7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e13f14ba7f442ce" /><Relationship Type="http://schemas.openxmlformats.org/officeDocument/2006/relationships/notesSlide" Target="/ppt/notesSlides/notesSlide5.xml" Id="R11bf6fa54f6d444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3480bc11f894235" /><Relationship Type="http://schemas.openxmlformats.org/officeDocument/2006/relationships/notesSlide" Target="/ppt/notesSlides/notesSlide6.xml" Id="R8d920e9f77744fb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be47b92f8de42b0" /><Relationship Type="http://schemas.openxmlformats.org/officeDocument/2006/relationships/notesSlide" Target="/ppt/notesSlides/notesSlide7.xml" Id="Rf270fc36ec0d4b6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e0a3a06726a4015" /><Relationship Type="http://schemas.openxmlformats.org/officeDocument/2006/relationships/notesSlide" Target="/ppt/notesSlides/notesSlide8.xml" Id="R6cefb45b78724fd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eea5647cced412b" /><Relationship Type="http://schemas.openxmlformats.org/officeDocument/2006/relationships/notesSlide" Target="/ppt/notesSlides/notesSlide9.xml" Id="R76643560eb80458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44efe2623894e68" /><Relationship Type="http://schemas.openxmlformats.org/officeDocument/2006/relationships/chart" Target="/ppt/slides/charts/chart2.xml" Id="R047bffa2ffd54d73" /><Relationship Type="http://schemas.openxmlformats.org/officeDocument/2006/relationships/notesSlide" Target="/ppt/notesSlides/notesSlide10.xml" Id="R2571a8a42574492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ce8345d01084b95" /><Relationship Type="http://schemas.openxmlformats.org/officeDocument/2006/relationships/notesSlide" Target="/ppt/notesSlides/notesSlide11.xml" Id="Rca36c92c68d34b1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c41bd66d757445c" /><Relationship Type="http://schemas.openxmlformats.org/officeDocument/2006/relationships/chart" Target="/ppt/slides/charts/chart3.xml" Id="R03313563268941ea" /><Relationship Type="http://schemas.openxmlformats.org/officeDocument/2006/relationships/notesSlide" Target="/ppt/notesSlides/notesSlide12.xml" Id="R60af23a1515c4b3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54e152f12654eaa" /><Relationship Type="http://schemas.openxmlformats.org/officeDocument/2006/relationships/notesSlide" Target="/ppt/notesSlides/notesSlide13.xml" Id="R86b17e5e4409488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20ea68f7fda4427" /><Relationship Type="http://schemas.openxmlformats.org/officeDocument/2006/relationships/chart" Target="/ppt/slides/charts/chart4.xml" Id="R07851fb05de245f9" /><Relationship Type="http://schemas.openxmlformats.org/officeDocument/2006/relationships/notesSlide" Target="/ppt/notesSlides/notesSlide14.xml" Id="R17125b6e11a44ef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df47bea1b254dce" /><Relationship Type="http://schemas.openxmlformats.org/officeDocument/2006/relationships/notesSlide" Target="/ppt/notesSlides/notesSlide15.xml" Id="R4acbdbc7653c4a3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f1bbdc783824c36" /><Relationship Type="http://schemas.openxmlformats.org/officeDocument/2006/relationships/notesSlide" Target="/ppt/notesSlides/notesSlide16.xml" Id="Rf3ca10c72df7460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52d1758cc8048b3" /><Relationship Type="http://schemas.openxmlformats.org/officeDocument/2006/relationships/notesSlide" Target="/ppt/notesSlides/notesSlide17.xml" Id="R77e288d5c30a42f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33ce11e7aa34f8d" /><Relationship Type="http://schemas.openxmlformats.org/officeDocument/2006/relationships/notesSlide" Target="/ppt/notesSlides/notesSlide18.xml" Id="R4310b99dc2b44b0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Anuncios</c:v>
          </c:tx>
          <c:spPr>
            <a:solidFill xmlns:a="http://schemas.openxmlformats.org/drawingml/2006/main">
              <a:srgbClr val="087E8B"/>
            </a:solidFill>
          </c:spPr>
          <c:cat>
            <c:strRef>
              <c:f>'Chart Data'!$A$2:$A$7</c:f>
              <c:strCache>
                <c:ptCount val="6"/>
                <c:pt idx="0">
                  <c:v>Londres</c:v>
                </c:pt>
                <c:pt idx="1">
                  <c:v>Madrid</c:v>
                </c:pt>
                <c:pt idx="2">
                  <c:v>Milán</c:v>
                </c:pt>
                <c:pt idx="3">
                  <c:v>Nueva York</c:v>
                </c:pt>
                <c:pt idx="4">
                  <c:v>Sídney</c:v>
                </c:pt>
                <c:pt idx="5">
                  <c:v>Tokio</c:v>
                </c:pt>
              </c:strCache>
            </c:strRef>
          </c:cat>
          <c:val>
            <c:numRef>
              <c:f>'Chart Data'!$B$2:$B$7</c:f>
              <c:numCache>
                <c:formatCode>#,##0</c:formatCode>
                <c:ptCount val="6"/>
                <c:pt idx="0">
                  <c:v>85068</c:v>
                </c:pt>
                <c:pt idx="1">
                  <c:v>19618</c:v>
                </c:pt>
                <c:pt idx="2">
                  <c:v>18322</c:v>
                </c:pt>
                <c:pt idx="3">
                  <c:v>48895</c:v>
                </c:pt>
                <c:pt idx="4">
                  <c:v>36662</c:v>
                </c:pt>
                <c:pt idx="5">
                  <c:v>11466</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142D3B"/>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42D3B"/>
                </a:solidFill>
                <a:latin typeface="Arial"/>
                <a:ea typeface="Arial"/>
                <a:cs typeface="Arial"/>
              </a:defRPr>
            </a:pPr>
          </a:p>
        </c:txPr>
        <c:crossAx val="48672768"/>
      </c:catAx>
      <c:valAx>
        <c:axId val="48672768"/>
        <c:scaling>
          <c:orientation val="minMax"/>
          <c:max val="100000"/>
          <c:min val="0"/>
        </c:scaling>
        <c:delete val="0"/>
        <c:axPos val="l"/>
        <c:majorGridlines>
          <c:spPr>
            <a:ln xmlns:a="http://schemas.openxmlformats.org/drawingml/2006/main" w="9525">
              <a:solidFill>
                <a:srgbClr val="E0E8EA"/>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471"/>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Segmentos candidatos</c:v>
          </c:tx>
          <c:spPr>
            <a:solidFill xmlns:a="http://schemas.openxmlformats.org/drawingml/2006/main">
              <a:srgbClr val="087E8B"/>
            </a:solidFill>
          </c:spPr>
          <c:cat>
            <c:strRef>
              <c:f>'Chart Data'!$A$2:$A$7</c:f>
              <c:strCache>
                <c:ptCount val="6"/>
                <c:pt idx="0">
                  <c:v>Londres</c:v>
                </c:pt>
                <c:pt idx="1">
                  <c:v>Madrid</c:v>
                </c:pt>
                <c:pt idx="2">
                  <c:v>Milán</c:v>
                </c:pt>
                <c:pt idx="3">
                  <c:v>Nueva York</c:v>
                </c:pt>
                <c:pt idx="4">
                  <c:v>Sídney</c:v>
                </c:pt>
                <c:pt idx="5">
                  <c:v>Tokio</c:v>
                </c:pt>
              </c:strCache>
            </c:strRef>
          </c:cat>
          <c:val>
            <c:numRef>
              <c:f>'Chart Data'!$B$2:$B$7</c:f>
              <c:numCache>
                <c:formatCode>0</c:formatCode>
                <c:ptCount val="6"/>
                <c:pt idx="0">
                  <c:v>0</c:v>
                </c:pt>
                <c:pt idx="1">
                  <c:v>1</c:v>
                </c:pt>
                <c:pt idx="2">
                  <c:v>1</c:v>
                </c:pt>
                <c:pt idx="3">
                  <c:v>12</c:v>
                </c:pt>
                <c:pt idx="4">
                  <c:v>13</c:v>
                </c:pt>
                <c:pt idx="5">
                  <c:v>1</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142D3B"/>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42D3B"/>
                </a:solidFill>
                <a:latin typeface="Arial"/>
                <a:ea typeface="Arial"/>
                <a:cs typeface="Arial"/>
              </a:defRPr>
            </a:pPr>
          </a:p>
        </c:txPr>
        <c:crossAx val="48672768"/>
      </c:catAx>
      <c:valAx>
        <c:axId val="48672768"/>
        <c:scaling>
          <c:orientation val="minMax"/>
          <c:max val="15"/>
          <c:min val="0"/>
        </c:scaling>
        <c:delete val="0"/>
        <c:axPos val="l"/>
        <c:majorGridlines>
          <c:spPr>
            <a:ln xmlns:a="http://schemas.openxmlformats.org/drawingml/2006/main" w="9525">
              <a:solidFill>
                <a:srgbClr val="E0E8EA"/>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471"/>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Brecha de cuota (puntos porcentuales)</c:v>
          </c:tx>
          <c:spPr>
            <a:solidFill xmlns:a="http://schemas.openxmlformats.org/drawingml/2006/main">
              <a:srgbClr val="BC432E"/>
            </a:solidFill>
          </c:spPr>
          <c:cat>
            <c:strRef>
              <c:f>'Chart Data'!$A$2:$A$6</c:f>
              <c:strCache>
                <c:ptCount val="5"/>
                <c:pt idx="0">
                  <c:v>Justicia</c:v>
                </c:pt>
                <c:pt idx="1">
                  <c:v>CENTRALE</c:v>
                </c:pt>
                <c:pt idx="2">
                  <c:v>Bedford-
Stuyvesant</c:v>
                </c:pt>
                <c:pt idx="3">
                  <c:v>Leichhardt</c:v>
                </c:pt>
                <c:pt idx="4">
                  <c:v>Nakano Ku</c:v>
                </c:pt>
              </c:strCache>
            </c:strRef>
          </c:cat>
          <c:val>
            <c:numRef>
              <c:f>'Chart Data'!$B$2:$B$6</c:f>
              <c:numCache>
                <c:formatCode>0.0</c:formatCode>
                <c:ptCount val="5"/>
                <c:pt idx="0">
                  <c:v>10.3</c:v>
                </c:pt>
                <c:pt idx="1">
                  <c:v>2.4</c:v>
                </c:pt>
                <c:pt idx="2">
                  <c:v>9.1</c:v>
                </c:pt>
                <c:pt idx="3">
                  <c:v>6.7</c:v>
                </c:pt>
                <c:pt idx="4">
                  <c:v>7.2</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142D3B"/>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42D3B"/>
                </a:solidFill>
                <a:latin typeface="Arial"/>
                <a:ea typeface="Arial"/>
                <a:cs typeface="Arial"/>
              </a:defRPr>
            </a:pPr>
          </a:p>
        </c:txPr>
        <c:crossAx val="48672768"/>
      </c:catAx>
      <c:valAx>
        <c:axId val="48672768"/>
        <c:scaling>
          <c:orientation val="minMax"/>
          <c:max val="12"/>
          <c:min val="0"/>
        </c:scaling>
        <c:delete val="0"/>
        <c:axPos val="l"/>
        <c:majorGridlines>
          <c:spPr>
            <a:ln xmlns:a="http://schemas.openxmlformats.org/drawingml/2006/main" w="9525">
              <a:solidFill>
                <a:srgbClr val="E0E8EA"/>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471"/>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Epsilon cuadrado</c:v>
          </c:tx>
          <c:spPr>
            <a:solidFill xmlns:a="http://schemas.openxmlformats.org/drawingml/2006/main">
              <a:srgbClr val="087E8B"/>
            </a:solidFill>
          </c:spPr>
          <c:cat>
            <c:strRef>
              <c:f>'Chart Data'!$A$2:$A$7</c:f>
              <c:strCache>
                <c:ptCount val="6"/>
                <c:pt idx="0">
                  <c:v>Londres</c:v>
                </c:pt>
                <c:pt idx="1">
                  <c:v>Madrid</c:v>
                </c:pt>
                <c:pt idx="2">
                  <c:v>Milán</c:v>
                </c:pt>
                <c:pt idx="3">
                  <c:v>Nueva York</c:v>
                </c:pt>
                <c:pt idx="4">
                  <c:v>Sídney</c:v>
                </c:pt>
                <c:pt idx="5">
                  <c:v>Tokio</c:v>
                </c:pt>
              </c:strCache>
            </c:strRef>
          </c:cat>
          <c:val>
            <c:numRef>
              <c:f>'Chart Data'!$B$2:$B$7</c:f>
              <c:numCache>
                <c:formatCode>0.0000</c:formatCode>
                <c:ptCount val="6"/>
                <c:pt idx="0">
                  <c:v>0.0004</c:v>
                </c:pt>
                <c:pt idx="1">
                  <c:v>0.0497</c:v>
                </c:pt>
                <c:pt idx="2">
                  <c:v>0.0163</c:v>
                </c:pt>
                <c:pt idx="3">
                  <c:v>0.0001</c:v>
                </c:pt>
                <c:pt idx="4">
                  <c:v>0.0061</c:v>
                </c:pt>
                <c:pt idx="5">
                  <c:v>0.0893</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142D3B"/>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42D3B"/>
                </a:solidFill>
                <a:latin typeface="Arial"/>
                <a:ea typeface="Arial"/>
                <a:cs typeface="Arial"/>
              </a:defRPr>
            </a:pPr>
          </a:p>
        </c:txPr>
        <c:crossAx val="48672768"/>
      </c:catAx>
      <c:valAx>
        <c:axId val="48672768"/>
        <c:scaling>
          <c:orientation val="minMax"/>
          <c:max val="0.1"/>
          <c:min val="0"/>
        </c:scaling>
        <c:delete val="0"/>
        <c:axPos val="l"/>
        <c:majorGridlines>
          <c:spPr>
            <a:ln xmlns:a="http://schemas.openxmlformats.org/drawingml/2006/main" w="9525">
              <a:solidFill>
                <a:srgbClr val="E0E8EA"/>
              </a:solidFill>
            </a:ln>
          </c:spPr>
        </c:majorGridlines>
        <c:numFmt formatCode="0.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471"/>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D3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4A47D36-4161-4890-959B-716FE3AD4E7C}"/>
              </a:ext>
            </a:extLst>
          </p:cNvPr>
          <p:cNvSpPr>
            <a:spLocks xmlns:a="http://schemas.openxmlformats.org/drawingml/2006/main" noGrp="1"/>
          </p:cNvSpPr>
          <p:nvPr/>
        </p:nvSpPr>
        <p:spPr>
          <a:xfrm xmlns:a="http://schemas.openxmlformats.org/drawingml/2006/main">
            <a:off x="609600" y="4476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Análisis de oferta Airbnb</a:t>
            </a:r>
          </a:p>
        </p:txBody>
      </p:sp>
      <p:sp>
        <p:nvSpPr>
          <p:cNvPr id="2" name="">
            <a:extLst xmlns:a="http://schemas.openxmlformats.org/drawingml/2006/main">
              <a:ext uri="{FF2B5EF4-FFF2-40B4-BE49-F238E27FC236}">
                <a16:creationId xmlns:a16="http://schemas.microsoft.com/office/drawing/2014/main" id="{321731B0-CC63-4FF2-8054-DC7B91C2CEF2}"/>
              </a:ext>
            </a:extLst>
          </p:cNvPr>
          <p:cNvSpPr>
            <a:spLocks xmlns:a="http://schemas.openxmlformats.org/drawingml/2006/main" noGrp="1"/>
          </p:cNvSpPr>
          <p:nvPr/>
        </p:nvSpPr>
        <p:spPr>
          <a:xfrm xmlns:a="http://schemas.openxmlformats.org/drawingml/2006/main">
            <a:off x="11049000" y="63246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BED3DB"/>
                </a:solidFill>
                <a:latin typeface="Arial"/>
                <a:ea typeface="Arial"/>
                <a:cs typeface="Arial"/>
              </a:defRPr>
            </a:pPr>
            <a:r>
              <a:rPr sz="1350" b="0">
                <a:solidFill>
                  <a:srgbClr val="BED3D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0B86BDEE-FD64-4720-9BDF-11AF4EA28DF3}"/>
              </a:ext>
            </a:extLst>
          </p:cNvPr>
          <p:cNvSpPr>
            <a:spLocks xmlns:a="http://schemas.openxmlformats.org/drawingml/2006/main" noGrp="1"/>
          </p:cNvSpPr>
          <p:nvPr/>
        </p:nvSpPr>
        <p:spPr>
          <a:xfrm xmlns:a="http://schemas.openxmlformats.org/drawingml/2006/main">
            <a:off x="685800" y="1981200"/>
            <a:ext cx="10287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Desarrollo técnico y</a:t>
            </a:r>
          </a:p>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conclusiones del análisis</a:t>
            </a:r>
          </a:p>
        </p:txBody>
      </p:sp>
      <p:sp>
        <p:nvSpPr>
          <p:cNvPr id="4" name="">
            <a:extLst xmlns:a="http://schemas.openxmlformats.org/drawingml/2006/main">
              <a:ext uri="{FF2B5EF4-FFF2-40B4-BE49-F238E27FC236}">
                <a16:creationId xmlns:a16="http://schemas.microsoft.com/office/drawing/2014/main" id="{E4CB8EF0-9DDB-42BF-B6EE-DF210BD875D0}"/>
              </a:ext>
            </a:extLst>
          </p:cNvPr>
          <p:cNvSpPr>
            <a:spLocks xmlns:a="http://schemas.openxmlformats.org/drawingml/2006/main" noGrp="1"/>
          </p:cNvSpPr>
          <p:nvPr/>
        </p:nvSpPr>
        <p:spPr>
          <a:xfrm xmlns:a="http://schemas.openxmlformats.org/drawingml/2006/main">
            <a:off x="723900" y="4238625"/>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0">
                <a:solidFill>
                  <a:srgbClr val="87D5D7"/>
                </a:solidFill>
                <a:latin typeface="Arial"/>
                <a:ea typeface="Arial"/>
                <a:cs typeface="Arial"/>
              </a:defRPr>
            </a:pPr>
            <a:r>
              <a:rPr sz="2550" b="0">
                <a:solidFill>
                  <a:srgbClr val="87D5D7"/>
                </a:solidFill>
                <a:latin typeface="Arial"/>
                <a:ea typeface="Arial"/>
                <a:cs typeface="Arial"/>
              </a:rPr>
              <a:t>220.031 anuncios en seis ciudades</a:t>
            </a:r>
          </a:p>
        </p:txBody>
      </p:sp>
      <p:sp>
        <p:nvSpPr>
          <p:cNvPr id="5" name="">
            <a:extLst xmlns:a="http://schemas.openxmlformats.org/drawingml/2006/main">
              <a:ext uri="{FF2B5EF4-FFF2-40B4-BE49-F238E27FC236}">
                <a16:creationId xmlns:a16="http://schemas.microsoft.com/office/drawing/2014/main" id="{08DCB323-7B24-4DCD-BFFD-0A9C16BCE88A}"/>
              </a:ext>
            </a:extLst>
          </p:cNvPr>
          <p:cNvSpPr>
            <a:spLocks xmlns:a="http://schemas.openxmlformats.org/drawingml/2006/main" noGrp="1"/>
          </p:cNvSpPr>
          <p:nvPr/>
        </p:nvSpPr>
        <p:spPr>
          <a:xfrm xmlns:a="http://schemas.openxmlformats.org/drawingml/2006/main">
            <a:off x="723900" y="52673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BED3DB"/>
                </a:solidFill>
                <a:latin typeface="Arial"/>
                <a:ea typeface="Arial"/>
                <a:cs typeface="Arial"/>
              </a:defRPr>
            </a:pPr>
            <a:r>
              <a:rPr sz="1800" b="0">
                <a:solidFill>
                  <a:srgbClr val="BED3DB"/>
                </a:solidFill>
                <a:latin typeface="Arial"/>
                <a:ea typeface="Arial"/>
                <a:cs typeface="Arial"/>
              </a:rPr>
              <a:t>Arnaldo  ·  Proyecto 8A  ·  8 septiembre 2026</a:t>
            </a:r>
          </a:p>
        </p:txBody>
      </p:sp>
    </p:spTree>
    <p:extLst>
      <p:ext uri="{BB962C8B-B14F-4D97-AF65-F5344CB8AC3E}">
        <p14:creationId xmlns:p14="http://schemas.microsoft.com/office/powerpoint/2010/main" val="164166238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FE90EC0-5DCC-4E37-9123-3459AC0D4326}"/>
              </a:ext>
            </a:extLst>
          </p:cNvPr>
          <p:cNvSpPr>
            <a:spLocks xmlns:a="http://schemas.openxmlformats.org/drawingml/2006/main" noGrp="1"/>
          </p:cNvSpPr>
          <p:nvPr/>
        </p:nvSpPr>
        <p:spPr>
          <a:xfrm xmlns:a="http://schemas.openxmlformats.org/drawingml/2006/main">
            <a:off x="609600" y="4476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142D3B"/>
                </a:solidFill>
                <a:latin typeface="Arial"/>
                <a:ea typeface="Arial"/>
                <a:cs typeface="Arial"/>
              </a:defRPr>
            </a:pPr>
            <a:r>
              <a:rPr sz="3225" b="1">
                <a:solidFill>
                  <a:srgbClr val="142D3B"/>
                </a:solidFill>
                <a:latin typeface="Arial"/>
                <a:ea typeface="Arial"/>
                <a:cs typeface="Arial"/>
              </a:rPr>
              <a:t>Objetivos y unidad de decisión</a:t>
            </a:r>
          </a:p>
        </p:txBody>
      </p:sp>
      <p:sp>
        <p:nvSpPr>
          <p:cNvPr id="2" name="">
            <a:extLst xmlns:a="http://schemas.openxmlformats.org/drawingml/2006/main">
              <a:ext uri="{FF2B5EF4-FFF2-40B4-BE49-F238E27FC236}">
                <a16:creationId xmlns:a16="http://schemas.microsoft.com/office/drawing/2014/main" id="{77DD23CC-E109-4EAD-9FA0-18467EA92B70}"/>
              </a:ext>
            </a:extLst>
          </p:cNvPr>
          <p:cNvSpPr>
            <a:spLocks xmlns:a="http://schemas.openxmlformats.org/drawingml/2006/main" noGrp="1"/>
          </p:cNvSpPr>
          <p:nvPr/>
        </p:nvSpPr>
        <p:spPr>
          <a:xfrm xmlns:a="http://schemas.openxmlformats.org/drawingml/2006/main">
            <a:off x="11049000" y="63246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471"/>
                </a:solidFill>
                <a:latin typeface="Arial"/>
                <a:ea typeface="Arial"/>
                <a:cs typeface="Arial"/>
              </a:defRPr>
            </a:pPr>
            <a:r>
              <a:rPr sz="1350" b="0">
                <a:solidFill>
                  <a:srgbClr val="526471"/>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82E85E03-DB5F-43D4-92A3-B66C9270EF5A}"/>
              </a:ext>
            </a:extLst>
          </p:cNvPr>
          <p:cNvSpPr>
            <a:spLocks xmlns:a="http://schemas.openxmlformats.org/drawingml/2006/main" noGrp="1"/>
          </p:cNvSpPr>
          <p:nvPr/>
        </p:nvSpPr>
        <p:spPr>
          <a:xfrm xmlns:a="http://schemas.openxmlformats.org/drawingml/2006/main">
            <a:off x="685800" y="1695450"/>
            <a:ext cx="108204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00" b="0">
                <a:solidFill>
                  <a:srgbClr val="142D3B"/>
                </a:solidFill>
                <a:latin typeface="Arial"/>
                <a:ea typeface="Arial"/>
                <a:cs typeface="Arial"/>
              </a:defRPr>
            </a:pPr>
            <a:r>
              <a:rPr sz="2700" b="0">
                <a:solidFill>
                  <a:srgbClr val="142D3B"/>
                </a:solidFill>
                <a:latin typeface="Arial"/>
                <a:ea typeface="Arial"/>
                <a:cs typeface="Arial"/>
              </a:rPr>
              <a:t>Identificar qué combinaciones de ciudad, barrio y tipología conviene investigar para captar nueva oferta.</a:t>
            </a:r>
          </a:p>
        </p:txBody>
      </p:sp>
      <p:sp>
        <p:nvSpPr>
          <p:cNvPr id="4" name="">
            <a:extLst xmlns:a="http://schemas.openxmlformats.org/drawingml/2006/main">
              <a:ext uri="{FF2B5EF4-FFF2-40B4-BE49-F238E27FC236}">
                <a16:creationId xmlns:a16="http://schemas.microsoft.com/office/drawing/2014/main" id="{385D4B95-EC83-48F2-964C-1EA88576360D}"/>
              </a:ext>
            </a:extLst>
          </p:cNvPr>
          <p:cNvSpPr>
            <a:spLocks xmlns:a="http://schemas.openxmlformats.org/drawingml/2006/main" noGrp="1"/>
          </p:cNvSpPr>
          <p:nvPr/>
        </p:nvSpPr>
        <p:spPr>
          <a:xfrm xmlns:a="http://schemas.openxmlformats.org/drawingml/2006/main">
            <a:off x="685800" y="3219450"/>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B"/>
                </a:solidFill>
                <a:latin typeface="Arial"/>
                <a:ea typeface="Arial"/>
                <a:cs typeface="Arial"/>
              </a:defRPr>
            </a:pPr>
            <a:r>
              <a:rPr sz="2175" b="1">
                <a:solidFill>
                  <a:srgbClr val="087E8B"/>
                </a:solidFill>
                <a:latin typeface="Arial"/>
                <a:ea typeface="Arial"/>
                <a:cs typeface="Arial"/>
              </a:rPr>
              <a:t>Objetivo analítico</a:t>
            </a:r>
          </a:p>
        </p:txBody>
      </p:sp>
      <p:sp>
        <p:nvSpPr>
          <p:cNvPr id="5" name="">
            <a:extLst xmlns:a="http://schemas.openxmlformats.org/drawingml/2006/main">
              <a:ext uri="{FF2B5EF4-FFF2-40B4-BE49-F238E27FC236}">
                <a16:creationId xmlns:a16="http://schemas.microsoft.com/office/drawing/2014/main" id="{16C74AE7-931F-475D-B9C2-F2B1A18EA64E}"/>
              </a:ext>
            </a:extLst>
          </p:cNvPr>
          <p:cNvSpPr>
            <a:spLocks xmlns:a="http://schemas.openxmlformats.org/drawingml/2006/main" noGrp="1"/>
          </p:cNvSpPr>
          <p:nvPr/>
        </p:nvSpPr>
        <p:spPr>
          <a:xfrm xmlns:a="http://schemas.openxmlformats.org/drawingml/2006/main">
            <a:off x="685800" y="3790950"/>
            <a:ext cx="4857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42D3B"/>
                </a:solidFill>
                <a:latin typeface="Arial"/>
                <a:ea typeface="Arial"/>
                <a:cs typeface="Arial"/>
              </a:defRPr>
            </a:pPr>
            <a:r>
              <a:rPr sz="2100" b="0">
                <a:solidFill>
                  <a:srgbClr val="142D3B"/>
                </a:solidFill>
                <a:latin typeface="Arial"/>
                <a:ea typeface="Arial"/>
                <a:cs typeface="Arial"/>
              </a:rPr>
              <a:t>Comparar actividad histórica y cuota de oferta con muestra, efecto e incertidumbre visibles.</a:t>
            </a:r>
          </a:p>
        </p:txBody>
      </p:sp>
      <p:sp>
        <p:nvSpPr>
          <p:cNvPr id="6" name="">
            <a:extLst xmlns:a="http://schemas.openxmlformats.org/drawingml/2006/main">
              <a:ext uri="{FF2B5EF4-FFF2-40B4-BE49-F238E27FC236}">
                <a16:creationId xmlns:a16="http://schemas.microsoft.com/office/drawing/2014/main" id="{08335E3F-31AB-4552-95AF-E0821052BF66}"/>
              </a:ext>
            </a:extLst>
          </p:cNvPr>
          <p:cNvSpPr>
            <a:spLocks xmlns:a="http://schemas.openxmlformats.org/drawingml/2006/main" noGrp="1"/>
          </p:cNvSpPr>
          <p:nvPr/>
        </p:nvSpPr>
        <p:spPr>
          <a:xfrm xmlns:a="http://schemas.openxmlformats.org/drawingml/2006/main">
            <a:off x="6229350" y="3219450"/>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B"/>
                </a:solidFill>
                <a:latin typeface="Arial"/>
                <a:ea typeface="Arial"/>
                <a:cs typeface="Arial"/>
              </a:defRPr>
            </a:pPr>
            <a:r>
              <a:rPr sz="2175" b="1">
                <a:solidFill>
                  <a:srgbClr val="087E8B"/>
                </a:solidFill>
                <a:latin typeface="Arial"/>
                <a:ea typeface="Arial"/>
                <a:cs typeface="Arial"/>
              </a:rPr>
              <a:t>Objetivo técnico</a:t>
            </a:r>
          </a:p>
        </p:txBody>
      </p:sp>
      <p:sp>
        <p:nvSpPr>
          <p:cNvPr id="7" name="">
            <a:extLst xmlns:a="http://schemas.openxmlformats.org/drawingml/2006/main">
              <a:ext uri="{FF2B5EF4-FFF2-40B4-BE49-F238E27FC236}">
                <a16:creationId xmlns:a16="http://schemas.microsoft.com/office/drawing/2014/main" id="{8F77E0EB-8FE4-438E-882C-A3BCA5E3F638}"/>
              </a:ext>
            </a:extLst>
          </p:cNvPr>
          <p:cNvSpPr>
            <a:spLocks xmlns:a="http://schemas.openxmlformats.org/drawingml/2006/main" noGrp="1"/>
          </p:cNvSpPr>
          <p:nvPr/>
        </p:nvSpPr>
        <p:spPr>
          <a:xfrm xmlns:a="http://schemas.openxmlformats.org/drawingml/2006/main">
            <a:off x="6229350" y="3790950"/>
            <a:ext cx="5048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42D3B"/>
                </a:solidFill>
                <a:latin typeface="Arial"/>
                <a:ea typeface="Arial"/>
                <a:cs typeface="Arial"/>
              </a:defRPr>
            </a:pPr>
            <a:r>
              <a:rPr sz="2100" b="0">
                <a:solidFill>
                  <a:srgbClr val="142D3B"/>
                </a:solidFill>
                <a:latin typeface="Arial"/>
                <a:ea typeface="Arial"/>
                <a:cs typeface="Arial"/>
              </a:rPr>
              <a:t>Reproducir el recorrido desde los CSV hasta notebooks, Power BI y el panel web.</a:t>
            </a:r>
          </a:p>
        </p:txBody>
      </p:sp>
      <p:sp>
        <p:nvSpPr>
          <p:cNvPr id="8" name="">
            <a:extLst xmlns:a="http://schemas.openxmlformats.org/drawingml/2006/main">
              <a:ext uri="{FF2B5EF4-FFF2-40B4-BE49-F238E27FC236}">
                <a16:creationId xmlns:a16="http://schemas.microsoft.com/office/drawing/2014/main" id="{5D74ADE6-0B98-4050-B0BA-ACB946E84BE7}"/>
              </a:ext>
            </a:extLst>
          </p:cNvPr>
          <p:cNvSpPr>
            <a:spLocks xmlns:a="http://schemas.openxmlformats.org/drawingml/2006/main" noGrp="1"/>
          </p:cNvSpPr>
          <p:nvPr/>
        </p:nvSpPr>
        <p:spPr>
          <a:xfrm xmlns:a="http://schemas.openxmlformats.org/drawingml/2006/main">
            <a:off x="685800" y="56578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526471"/>
                </a:solidFill>
                <a:latin typeface="Arial"/>
                <a:ea typeface="Arial"/>
                <a:cs typeface="Arial"/>
              </a:defRPr>
            </a:pPr>
            <a:r>
              <a:rPr sz="1575" b="0">
                <a:solidFill>
                  <a:srgbClr val="526471"/>
                </a:solidFill>
                <a:latin typeface="Arial"/>
                <a:ea typeface="Arial"/>
                <a:cs typeface="Arial"/>
              </a:rPr>
              <a:t>reviews_per_month es una señal histórica de reseñas. No equivale a reservas.</a:t>
            </a:r>
          </a:p>
        </p:txBody>
      </p:sp>
    </p:spTree>
    <p:extLst>
      <p:ext uri="{BB962C8B-B14F-4D97-AF65-F5344CB8AC3E}">
        <p14:creationId xmlns:p14="http://schemas.microsoft.com/office/powerpoint/2010/main" val="89984922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E778B30-7908-4454-8D29-56A4A70DA73F}"/>
              </a:ext>
            </a:extLst>
          </p:cNvPr>
          <p:cNvSpPr>
            <a:spLocks xmlns:a="http://schemas.openxmlformats.org/drawingml/2006/main" noGrp="1"/>
          </p:cNvSpPr>
          <p:nvPr/>
        </p:nvSpPr>
        <p:spPr>
          <a:xfrm xmlns:a="http://schemas.openxmlformats.org/drawingml/2006/main">
            <a:off x="609600" y="4476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142D3B"/>
                </a:solidFill>
                <a:latin typeface="Arial"/>
                <a:ea typeface="Arial"/>
                <a:cs typeface="Arial"/>
              </a:defRPr>
            </a:pPr>
            <a:r>
              <a:rPr sz="3225" b="1">
                <a:solidFill>
                  <a:srgbClr val="142D3B"/>
                </a:solidFill>
                <a:latin typeface="Arial"/>
                <a:ea typeface="Arial"/>
                <a:cs typeface="Arial"/>
              </a:rPr>
              <a:t>Fuentes y cobertura</a:t>
            </a:r>
          </a:p>
        </p:txBody>
      </p:sp>
      <p:sp>
        <p:nvSpPr>
          <p:cNvPr id="2" name="">
            <a:extLst xmlns:a="http://schemas.openxmlformats.org/drawingml/2006/main">
              <a:ext uri="{FF2B5EF4-FFF2-40B4-BE49-F238E27FC236}">
                <a16:creationId xmlns:a16="http://schemas.microsoft.com/office/drawing/2014/main" id="{736FD495-D356-48C9-8F90-0D849CF0570E}"/>
              </a:ext>
            </a:extLst>
          </p:cNvPr>
          <p:cNvSpPr>
            <a:spLocks xmlns:a="http://schemas.openxmlformats.org/drawingml/2006/main" noGrp="1"/>
          </p:cNvSpPr>
          <p:nvPr/>
        </p:nvSpPr>
        <p:spPr>
          <a:xfrm xmlns:a="http://schemas.openxmlformats.org/drawingml/2006/main">
            <a:off x="11049000" y="63246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471"/>
                </a:solidFill>
                <a:latin typeface="Arial"/>
                <a:ea typeface="Arial"/>
                <a:cs typeface="Arial"/>
              </a:defRPr>
            </a:pPr>
            <a:r>
              <a:rPr sz="1350" b="0">
                <a:solidFill>
                  <a:srgbClr val="526471"/>
                </a:solidFill>
                <a:latin typeface="Arial"/>
                <a:ea typeface="Arial"/>
                <a:cs typeface="Arial"/>
              </a:rPr>
              <a:t>03</a:t>
            </a:r>
          </a:p>
        </p:txBody>
      </p:sp>
      <p:graphicFrame>
        <p:nvGraphicFramePr>
          <p:cNvPr id="7" name="Chart"/>
          <p:cNvGraphicFramePr/>
          <p:nvPr/>
        </p:nvGraphicFramePr>
        <p:xfrm>
          <a:off xmlns:a="http://schemas.openxmlformats.org/drawingml/2006/main" x="685800" y="1704975"/>
          <a:ext xmlns:a="http://schemas.openxmlformats.org/drawingml/2006/main" cx="10820400" cy="3571875"/>
        </p:xfrm>
        <a:graphic xmlns:a="http://schemas.openxmlformats.org/drawingml/2006/main">
          <a:graphicData uri="http://schemas.openxmlformats.org/drawingml/2006/chart">
            <c:chart xmlns:r="http://schemas.openxmlformats.org/officeDocument/2006/relationships" xmlns:c="http://schemas.openxmlformats.org/drawingml/2006/chart" r:id="Rabbe17ad441f4ee9"/>
          </a:graphicData>
        </a:graphic>
      </p:graphicFrame>
      <p:sp>
        <p:nvSpPr>
          <p:cNvPr id="4" name="">
            <a:extLst xmlns:a="http://schemas.openxmlformats.org/drawingml/2006/main">
              <a:ext uri="{FF2B5EF4-FFF2-40B4-BE49-F238E27FC236}">
                <a16:creationId xmlns:a16="http://schemas.microsoft.com/office/drawing/2014/main" id="{3C3A6687-954B-4050-9830-85DCDF2DB2B4}"/>
              </a:ext>
            </a:extLst>
          </p:cNvPr>
          <p:cNvSpPr>
            <a:spLocks xmlns:a="http://schemas.openxmlformats.org/drawingml/2006/main" noGrp="1"/>
          </p:cNvSpPr>
          <p:nvPr/>
        </p:nvSpPr>
        <p:spPr>
          <a:xfrm xmlns:a="http://schemas.openxmlformats.org/drawingml/2006/main">
            <a:off x="685800" y="56578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526471"/>
                </a:solidFill>
                <a:latin typeface="Arial"/>
                <a:ea typeface="Arial"/>
                <a:cs typeface="Arial"/>
              </a:defRPr>
            </a:pPr>
            <a:r>
              <a:rPr sz="1575" b="0">
                <a:solidFill>
                  <a:srgbClr val="526471"/>
                </a:solidFill>
                <a:latin typeface="Arial"/>
                <a:ea typeface="Arial"/>
                <a:cs typeface="Arial"/>
              </a:rPr>
              <a:t>Seis CSV públicos. Comparaciones dentro de ciudad y conservación de todas las filas.</a:t>
            </a:r>
          </a:p>
        </p:txBody>
      </p:sp>
    </p:spTree>
    <p:extLst>
      <p:ext uri="{BB962C8B-B14F-4D97-AF65-F5344CB8AC3E}">
        <p14:creationId xmlns:p14="http://schemas.microsoft.com/office/powerpoint/2010/main" val="98779055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070C67A-451F-4099-8BA1-4ED2B7195B77}"/>
              </a:ext>
            </a:extLst>
          </p:cNvPr>
          <p:cNvSpPr>
            <a:spLocks xmlns:a="http://schemas.openxmlformats.org/drawingml/2006/main" noGrp="1"/>
          </p:cNvSpPr>
          <p:nvPr/>
        </p:nvSpPr>
        <p:spPr>
          <a:xfrm xmlns:a="http://schemas.openxmlformats.org/drawingml/2006/main">
            <a:off x="609600" y="4476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142D3B"/>
                </a:solidFill>
                <a:latin typeface="Arial"/>
                <a:ea typeface="Arial"/>
                <a:cs typeface="Arial"/>
              </a:defRPr>
            </a:pPr>
            <a:r>
              <a:rPr sz="3225" b="1">
                <a:solidFill>
                  <a:srgbClr val="142D3B"/>
                </a:solidFill>
                <a:latin typeface="Arial"/>
                <a:ea typeface="Arial"/>
                <a:cs typeface="Arial"/>
              </a:rPr>
              <a:t>Desarrollo del pipeline</a:t>
            </a:r>
          </a:p>
        </p:txBody>
      </p:sp>
      <p:sp>
        <p:nvSpPr>
          <p:cNvPr id="2" name="">
            <a:extLst xmlns:a="http://schemas.openxmlformats.org/drawingml/2006/main">
              <a:ext uri="{FF2B5EF4-FFF2-40B4-BE49-F238E27FC236}">
                <a16:creationId xmlns:a16="http://schemas.microsoft.com/office/drawing/2014/main" id="{43FAF166-6694-4472-B9A2-217589B560A1}"/>
              </a:ext>
            </a:extLst>
          </p:cNvPr>
          <p:cNvSpPr>
            <a:spLocks xmlns:a="http://schemas.openxmlformats.org/drawingml/2006/main" noGrp="1"/>
          </p:cNvSpPr>
          <p:nvPr/>
        </p:nvSpPr>
        <p:spPr>
          <a:xfrm xmlns:a="http://schemas.openxmlformats.org/drawingml/2006/main">
            <a:off x="11049000" y="63246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471"/>
                </a:solidFill>
                <a:latin typeface="Arial"/>
                <a:ea typeface="Arial"/>
                <a:cs typeface="Arial"/>
              </a:defRPr>
            </a:pPr>
            <a:r>
              <a:rPr sz="1350" b="0">
                <a:solidFill>
                  <a:srgbClr val="526471"/>
                </a:solidFill>
                <a:latin typeface="Arial"/>
                <a:ea typeface="Arial"/>
                <a:cs typeface="Arial"/>
              </a:rPr>
              <a:t>04</a:t>
            </a:r>
          </a:p>
        </p:txBody>
      </p:sp>
      <p:graphicFrame>
        <p:nvGraphicFramePr>
          <p:cNvPr id="7" name=""/>
          <p:cNvGraphicFramePr/>
          <p:nvPr/>
        </p:nvGraphicFramePr>
        <p:xfrm>
          <a:off xmlns:a="http://schemas.openxmlformats.org/drawingml/2006/main" x="685800" y="1676400"/>
          <a:ext xmlns:a="http://schemas.openxmlformats.org/drawingml/2006/main" cx="10820400" cy="3714750"/>
        </p:xfrm>
        <a:graphic xmlns:a="http://schemas.openxmlformats.org/drawingml/2006/main">
          <a:graphicData uri="http://schemas.openxmlformats.org/drawingml/2006/table">
            <a:tbl>
              <a:tblPr/>
              <a:tblGrid>
                <a:gridCol w="3333750"/>
                <a:gridCol w="7486650"/>
              </a:tblGrid>
              <a:tr h="619125">
                <a:tc>
                  <a:txBody>
                    <a:bodyPr/>
                    <a:lstStyle/>
                    <a:p>
                      <a:r>
                        <a:rPr sz="1875" b="1">
                          <a:solidFill>
                            <a:srgbClr val="FFFFFF"/>
                          </a:solidFill>
                          <a:latin typeface="Arial"/>
                          <a:ea typeface="Arial"/>
                          <a:cs typeface="Arial"/>
                        </a:rPr>
                        <a:t>Etapa</a:t>
                      </a:r>
                    </a:p>
                  </a:txBody>
                  <a:tcPr marL="91440" marR="91440" marT="45720" marB="45720">
                    <a:solidFill>
                      <a:srgbClr val="142D3B"/>
                    </a:solidFill>
                  </a:tcPr>
                </a:tc>
                <a:tc>
                  <a:txBody>
                    <a:bodyPr/>
                    <a:lstStyle/>
                    <a:p>
                      <a:r>
                        <a:rPr sz="1875" b="1">
                          <a:solidFill>
                            <a:srgbClr val="FFFFFF"/>
                          </a:solidFill>
                          <a:latin typeface="Arial"/>
                          <a:ea typeface="Arial"/>
                          <a:cs typeface="Arial"/>
                        </a:rPr>
                        <a:t>Resultado</a:t>
                      </a:r>
                    </a:p>
                  </a:txBody>
                  <a:tcPr marL="91440" marR="91440" marT="45720" marB="45720">
                    <a:solidFill>
                      <a:srgbClr val="142D3B"/>
                    </a:solidFill>
                  </a:tcPr>
                </a:tc>
              </a:tr>
              <a:tr h="619125">
                <a:tc>
                  <a:txBody>
                    <a:bodyPr/>
                    <a:lstStyle/>
                    <a:p>
                      <a:r>
                        <a:rPr sz="1875" b="0">
                          <a:solidFill>
                            <a:srgbClr val="142D3B"/>
                          </a:solidFill>
                          <a:latin typeface="Arial"/>
                          <a:ea typeface="Arial"/>
                          <a:cs typeface="Arial"/>
                        </a:rPr>
                        <a:t>Inventario y auditoría</a:t>
                      </a:r>
                    </a:p>
                  </a:txBody>
                  <a:tcPr marL="91440" marR="91440" marT="45720" marB="45720">
                    <a:solidFill>
                      <a:srgbClr val="FFFFFF"/>
                    </a:solidFill>
                  </a:tcPr>
                </a:tc>
                <a:tc>
                  <a:txBody>
                    <a:bodyPr/>
                    <a:lstStyle/>
                    <a:p>
                      <a:r>
                        <a:rPr sz="1875" b="0">
                          <a:solidFill>
                            <a:srgbClr val="142D3B"/>
                          </a:solidFill>
                          <a:latin typeface="Arial"/>
                          <a:ea typeface="Arial"/>
                          <a:cs typeface="Arial"/>
                        </a:rPr>
                        <a:t>Identidad, esquema, nulos y hallazgos por fuente</a:t>
                      </a:r>
                    </a:p>
                  </a:txBody>
                  <a:tcPr marL="91440" marR="91440" marT="45720" marB="45720">
                    <a:solidFill>
                      <a:srgbClr val="FFFFFF"/>
                    </a:solidFill>
                  </a:tcPr>
                </a:tc>
              </a:tr>
              <a:tr h="619125">
                <a:tc>
                  <a:txBody>
                    <a:bodyPr/>
                    <a:lstStyle/>
                    <a:p>
                      <a:r>
                        <a:rPr sz="1875" b="0">
                          <a:solidFill>
                            <a:srgbClr val="142D3B"/>
                          </a:solidFill>
                          <a:latin typeface="Arial"/>
                          <a:ea typeface="Arial"/>
                          <a:cs typeface="Arial"/>
                        </a:rPr>
                        <a:t>ETL y modelo canónico</a:t>
                      </a:r>
                    </a:p>
                  </a:txBody>
                  <a:tcPr marL="91440" marR="91440" marT="45720" marB="45720">
                    <a:solidFill>
                      <a:srgbClr val="F4F7F8"/>
                    </a:solidFill>
                  </a:tcPr>
                </a:tc>
                <a:tc>
                  <a:txBody>
                    <a:bodyPr/>
                    <a:lstStyle/>
                    <a:p>
                      <a:r>
                        <a:rPr sz="1875" b="0">
                          <a:solidFill>
                            <a:srgbClr val="142D3B"/>
                          </a:solidFill>
                          <a:latin typeface="Arial"/>
                          <a:ea typeface="Arial"/>
                          <a:cs typeface="Arial"/>
                        </a:rPr>
                        <a:t>Tipos armonizados, linaje y Parquet de anuncios</a:t>
                      </a:r>
                    </a:p>
                  </a:txBody>
                  <a:tcPr marL="91440" marR="91440" marT="45720" marB="45720">
                    <a:solidFill>
                      <a:srgbClr val="F4F7F8"/>
                    </a:solidFill>
                  </a:tcPr>
                </a:tc>
              </a:tr>
              <a:tr h="619125">
                <a:tc>
                  <a:txBody>
                    <a:bodyPr/>
                    <a:lstStyle/>
                    <a:p>
                      <a:r>
                        <a:rPr sz="1875" b="0">
                          <a:solidFill>
                            <a:srgbClr val="142D3B"/>
                          </a:solidFill>
                          <a:latin typeface="Arial"/>
                          <a:ea typeface="Arial"/>
                          <a:cs typeface="Arial"/>
                        </a:rPr>
                        <a:t>EDA y estadística</a:t>
                      </a:r>
                    </a:p>
                  </a:txBody>
                  <a:tcPr marL="91440" marR="91440" marT="45720" marB="45720">
                    <a:solidFill>
                      <a:srgbClr val="FFFFFF"/>
                    </a:solidFill>
                  </a:tcPr>
                </a:tc>
                <a:tc>
                  <a:txBody>
                    <a:bodyPr/>
                    <a:lstStyle/>
                    <a:p>
                      <a:r>
                        <a:rPr sz="1875" b="0">
                          <a:solidFill>
                            <a:srgbClr val="142D3B"/>
                          </a:solidFill>
                          <a:latin typeface="Arial"/>
                          <a:ea typeface="Arial"/>
                          <a:cs typeface="Arial"/>
                        </a:rPr>
                        <a:t>Contrastes, sensibilidades y matriz de segmentos</a:t>
                      </a:r>
                    </a:p>
                  </a:txBody>
                  <a:tcPr marL="91440" marR="91440" marT="45720" marB="45720">
                    <a:solidFill>
                      <a:srgbClr val="FFFFFF"/>
                    </a:solidFill>
                  </a:tcPr>
                </a:tc>
              </a:tr>
              <a:tr h="619125">
                <a:tc>
                  <a:txBody>
                    <a:bodyPr/>
                    <a:lstStyle/>
                    <a:p>
                      <a:r>
                        <a:rPr sz="1875" b="0">
                          <a:solidFill>
                            <a:srgbClr val="142D3B"/>
                          </a:solidFill>
                          <a:latin typeface="Arial"/>
                          <a:ea typeface="Arial"/>
                          <a:cs typeface="Arial"/>
                        </a:rPr>
                        <a:t>Exportación y validación</a:t>
                      </a:r>
                    </a:p>
                  </a:txBody>
                  <a:tcPr marL="91440" marR="91440" marT="45720" marB="45720">
                    <a:solidFill>
                      <a:srgbClr val="F4F7F8"/>
                    </a:solidFill>
                  </a:tcPr>
                </a:tc>
                <a:tc>
                  <a:txBody>
                    <a:bodyPr/>
                    <a:lstStyle/>
                    <a:p>
                      <a:r>
                        <a:rPr sz="1875" b="0">
                          <a:solidFill>
                            <a:srgbClr val="142D3B"/>
                          </a:solidFill>
                          <a:latin typeface="Arial"/>
                          <a:ea typeface="Arial"/>
                          <a:cs typeface="Arial"/>
                        </a:rPr>
                        <a:t>Ocho CSV para Power BI y Streamlit</a:t>
                      </a:r>
                    </a:p>
                  </a:txBody>
                  <a:tcPr marL="91440" marR="91440" marT="45720" marB="45720">
                    <a:solidFill>
                      <a:srgbClr val="F4F7F8"/>
                    </a:solidFill>
                  </a:tcPr>
                </a:tc>
              </a:tr>
              <a:tr h="619125">
                <a:tc>
                  <a:txBody>
                    <a:bodyPr/>
                    <a:lstStyle/>
                    <a:p>
                      <a:r>
                        <a:rPr sz="1875" b="0">
                          <a:solidFill>
                            <a:srgbClr val="142D3B"/>
                          </a:solidFill>
                          <a:latin typeface="Arial"/>
                          <a:ea typeface="Arial"/>
                          <a:cs typeface="Arial"/>
                        </a:rPr>
                        <a:t>Comunicación</a:t>
                      </a:r>
                    </a:p>
                  </a:txBody>
                  <a:tcPr marL="91440" marR="91440" marT="45720" marB="45720">
                    <a:solidFill>
                      <a:srgbClr val="FFFFFF"/>
                    </a:solidFill>
                  </a:tcPr>
                </a:tc>
                <a:tc>
                  <a:txBody>
                    <a:bodyPr/>
                    <a:lstStyle/>
                    <a:p>
                      <a:r>
                        <a:rPr sz="1875" b="0">
                          <a:solidFill>
                            <a:srgbClr val="142D3B"/>
                          </a:solidFill>
                          <a:latin typeface="Arial"/>
                          <a:ea typeface="Arial"/>
                          <a:cs typeface="Arial"/>
                        </a:rPr>
                        <a:t>Notebooks, visualizaciones y presentación</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7944AE2-17A9-4207-8BD0-7F0718C2700C}"/>
              </a:ext>
            </a:extLst>
          </p:cNvPr>
          <p:cNvSpPr>
            <a:spLocks xmlns:a="http://schemas.openxmlformats.org/drawingml/2006/main" noGrp="1"/>
          </p:cNvSpPr>
          <p:nvPr/>
        </p:nvSpPr>
        <p:spPr>
          <a:xfrm xmlns:a="http://schemas.openxmlformats.org/drawingml/2006/main">
            <a:off x="685800" y="56578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526471"/>
                </a:solidFill>
                <a:latin typeface="Arial"/>
                <a:ea typeface="Arial"/>
                <a:cs typeface="Arial"/>
              </a:defRPr>
            </a:pPr>
            <a:r>
              <a:rPr sz="1575" b="0">
                <a:solidFill>
                  <a:srgbClr val="526471"/>
                </a:solidFill>
                <a:latin typeface="Arial"/>
                <a:ea typeface="Arial"/>
                <a:cs typeface="Arial"/>
              </a:rPr>
              <a:t>Build analizado: FDAAB53F8317CAD7. Clave del anuncio: ciudad + identificador.</a:t>
            </a:r>
          </a:p>
        </p:txBody>
      </p:sp>
    </p:spTree>
    <p:extLst>
      <p:ext uri="{BB962C8B-B14F-4D97-AF65-F5344CB8AC3E}">
        <p14:creationId xmlns:p14="http://schemas.microsoft.com/office/powerpoint/2010/main" val="136410719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AC996C7-E5C5-4062-B1DB-160F7CACBAD3}"/>
              </a:ext>
            </a:extLst>
          </p:cNvPr>
          <p:cNvSpPr>
            <a:spLocks xmlns:a="http://schemas.openxmlformats.org/drawingml/2006/main" noGrp="1"/>
          </p:cNvSpPr>
          <p:nvPr/>
        </p:nvSpPr>
        <p:spPr>
          <a:xfrm xmlns:a="http://schemas.openxmlformats.org/drawingml/2006/main">
            <a:off x="609600" y="4476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142D3B"/>
                </a:solidFill>
                <a:latin typeface="Arial"/>
                <a:ea typeface="Arial"/>
                <a:cs typeface="Arial"/>
              </a:defRPr>
            </a:pPr>
            <a:r>
              <a:rPr sz="3225" b="1">
                <a:solidFill>
                  <a:srgbClr val="142D3B"/>
                </a:solidFill>
                <a:latin typeface="Arial"/>
                <a:ea typeface="Arial"/>
                <a:cs typeface="Arial"/>
              </a:rPr>
              <a:t>Tecnologías utilizadas</a:t>
            </a:r>
          </a:p>
        </p:txBody>
      </p:sp>
      <p:sp>
        <p:nvSpPr>
          <p:cNvPr id="2" name="">
            <a:extLst xmlns:a="http://schemas.openxmlformats.org/drawingml/2006/main">
              <a:ext uri="{FF2B5EF4-FFF2-40B4-BE49-F238E27FC236}">
                <a16:creationId xmlns:a16="http://schemas.microsoft.com/office/drawing/2014/main" id="{783E0394-FA40-4806-BEC9-34AC1F4C6719}"/>
              </a:ext>
            </a:extLst>
          </p:cNvPr>
          <p:cNvSpPr>
            <a:spLocks xmlns:a="http://schemas.openxmlformats.org/drawingml/2006/main" noGrp="1"/>
          </p:cNvSpPr>
          <p:nvPr/>
        </p:nvSpPr>
        <p:spPr>
          <a:xfrm xmlns:a="http://schemas.openxmlformats.org/drawingml/2006/main">
            <a:off x="11049000" y="63246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471"/>
                </a:solidFill>
                <a:latin typeface="Arial"/>
                <a:ea typeface="Arial"/>
                <a:cs typeface="Arial"/>
              </a:defRPr>
            </a:pPr>
            <a:r>
              <a:rPr sz="1350" b="0">
                <a:solidFill>
                  <a:srgbClr val="526471"/>
                </a:solidFill>
                <a:latin typeface="Arial"/>
                <a:ea typeface="Arial"/>
                <a:cs typeface="Arial"/>
              </a:rPr>
              <a:t>05</a:t>
            </a:r>
          </a:p>
        </p:txBody>
      </p:sp>
      <p:graphicFrame>
        <p:nvGraphicFramePr>
          <p:cNvPr id="6" name=""/>
          <p:cNvGraphicFramePr/>
          <p:nvPr/>
        </p:nvGraphicFramePr>
        <p:xfrm>
          <a:off xmlns:a="http://schemas.openxmlformats.org/drawingml/2006/main" x="685800" y="1676400"/>
          <a:ext xmlns:a="http://schemas.openxmlformats.org/drawingml/2006/main" cx="10820400" cy="4000500"/>
        </p:xfrm>
        <a:graphic xmlns:a="http://schemas.openxmlformats.org/drawingml/2006/main">
          <a:graphicData uri="http://schemas.openxmlformats.org/drawingml/2006/table">
            <a:tbl>
              <a:tblPr/>
              <a:tblGrid>
                <a:gridCol w="3238500"/>
                <a:gridCol w="7581900"/>
              </a:tblGrid>
              <a:tr h="571500">
                <a:tc>
                  <a:txBody>
                    <a:bodyPr/>
                    <a:lstStyle/>
                    <a:p>
                      <a:r>
                        <a:rPr sz="1800" b="1">
                          <a:solidFill>
                            <a:srgbClr val="FFFFFF"/>
                          </a:solidFill>
                          <a:latin typeface="Arial"/>
                          <a:ea typeface="Arial"/>
                          <a:cs typeface="Arial"/>
                        </a:rPr>
                        <a:t>Función</a:t>
                      </a:r>
                    </a:p>
                  </a:txBody>
                  <a:tcPr marL="91440" marR="91440" marT="45720" marB="45720">
                    <a:solidFill>
                      <a:srgbClr val="142D3B"/>
                    </a:solidFill>
                  </a:tcPr>
                </a:tc>
                <a:tc>
                  <a:txBody>
                    <a:bodyPr/>
                    <a:lstStyle/>
                    <a:p>
                      <a:r>
                        <a:rPr sz="1800" b="1">
                          <a:solidFill>
                            <a:srgbClr val="FFFFFF"/>
                          </a:solidFill>
                          <a:latin typeface="Arial"/>
                          <a:ea typeface="Arial"/>
                          <a:cs typeface="Arial"/>
                        </a:rPr>
                        <a:t>Tecnologías</a:t>
                      </a:r>
                    </a:p>
                  </a:txBody>
                  <a:tcPr marL="91440" marR="91440" marT="45720" marB="45720">
                    <a:solidFill>
                      <a:srgbClr val="142D3B"/>
                    </a:solidFill>
                  </a:tcPr>
                </a:tc>
              </a:tr>
              <a:tr h="571500">
                <a:tc>
                  <a:txBody>
                    <a:bodyPr/>
                    <a:lstStyle/>
                    <a:p>
                      <a:r>
                        <a:rPr sz="1800" b="0">
                          <a:solidFill>
                            <a:srgbClr val="142D3B"/>
                          </a:solidFill>
                          <a:latin typeface="Arial"/>
                          <a:ea typeface="Arial"/>
                          <a:cs typeface="Arial"/>
                        </a:rPr>
                        <a:t>Entorno y procesamiento</a:t>
                      </a:r>
                    </a:p>
                  </a:txBody>
                  <a:tcPr marL="91440" marR="91440" marT="45720" marB="45720">
                    <a:solidFill>
                      <a:srgbClr val="FFFFFF"/>
                    </a:solidFill>
                  </a:tcPr>
                </a:tc>
                <a:tc>
                  <a:txBody>
                    <a:bodyPr/>
                    <a:lstStyle/>
                    <a:p>
                      <a:r>
                        <a:rPr sz="1800" b="0">
                          <a:solidFill>
                            <a:srgbClr val="142D3B"/>
                          </a:solidFill>
                          <a:latin typeface="Arial"/>
                          <a:ea typeface="Arial"/>
                          <a:cs typeface="Arial"/>
                        </a:rPr>
                        <a:t>Python 3.13, uv, pandas, NumPy</a:t>
                      </a:r>
                    </a:p>
                  </a:txBody>
                  <a:tcPr marL="91440" marR="91440" marT="45720" marB="45720">
                    <a:solidFill>
                      <a:srgbClr val="FFFFFF"/>
                    </a:solidFill>
                  </a:tcPr>
                </a:tc>
              </a:tr>
              <a:tr h="571500">
                <a:tc>
                  <a:txBody>
                    <a:bodyPr/>
                    <a:lstStyle/>
                    <a:p>
                      <a:r>
                        <a:rPr sz="1800" b="0">
                          <a:solidFill>
                            <a:srgbClr val="142D3B"/>
                          </a:solidFill>
                          <a:latin typeface="Arial"/>
                          <a:ea typeface="Arial"/>
                          <a:cs typeface="Arial"/>
                        </a:rPr>
                        <a:t>Contratos y almacenamiento</a:t>
                      </a:r>
                    </a:p>
                  </a:txBody>
                  <a:tcPr marL="91440" marR="91440" marT="45720" marB="45720">
                    <a:solidFill>
                      <a:srgbClr val="F4F7F8"/>
                    </a:solidFill>
                  </a:tcPr>
                </a:tc>
                <a:tc>
                  <a:txBody>
                    <a:bodyPr/>
                    <a:lstStyle/>
                    <a:p>
                      <a:r>
                        <a:rPr sz="1800" b="0">
                          <a:solidFill>
                            <a:srgbClr val="142D3B"/>
                          </a:solidFill>
                          <a:latin typeface="Arial"/>
                          <a:ea typeface="Arial"/>
                          <a:cs typeface="Arial"/>
                        </a:rPr>
                        <a:t>Pandera, PyArrow, Parquet, CSV, SHA-256</a:t>
                      </a:r>
                    </a:p>
                  </a:txBody>
                  <a:tcPr marL="91440" marR="91440" marT="45720" marB="45720">
                    <a:solidFill>
                      <a:srgbClr val="F4F7F8"/>
                    </a:solidFill>
                  </a:tcPr>
                </a:tc>
              </a:tr>
              <a:tr h="571500">
                <a:tc>
                  <a:txBody>
                    <a:bodyPr/>
                    <a:lstStyle/>
                    <a:p>
                      <a:r>
                        <a:rPr sz="1800" b="0">
                          <a:solidFill>
                            <a:srgbClr val="142D3B"/>
                          </a:solidFill>
                          <a:latin typeface="Arial"/>
                          <a:ea typeface="Arial"/>
                          <a:cs typeface="Arial"/>
                        </a:rPr>
                        <a:t>Estadística</a:t>
                      </a:r>
                    </a:p>
                  </a:txBody>
                  <a:tcPr marL="91440" marR="91440" marT="45720" marB="45720">
                    <a:solidFill>
                      <a:srgbClr val="FFFFFF"/>
                    </a:solidFill>
                  </a:tcPr>
                </a:tc>
                <a:tc>
                  <a:txBody>
                    <a:bodyPr/>
                    <a:lstStyle/>
                    <a:p>
                      <a:r>
                        <a:rPr sz="1800" b="0">
                          <a:solidFill>
                            <a:srgbClr val="142D3B"/>
                          </a:solidFill>
                          <a:latin typeface="Arial"/>
                          <a:ea typeface="Arial"/>
                          <a:cs typeface="Arial"/>
                        </a:rPr>
                        <a:t>SciPy y statsmodels</a:t>
                      </a:r>
                    </a:p>
                  </a:txBody>
                  <a:tcPr marL="91440" marR="91440" marT="45720" marB="45720">
                    <a:solidFill>
                      <a:srgbClr val="FFFFFF"/>
                    </a:solidFill>
                  </a:tcPr>
                </a:tc>
              </a:tr>
              <a:tr h="571500">
                <a:tc>
                  <a:txBody>
                    <a:bodyPr/>
                    <a:lstStyle/>
                    <a:p>
                      <a:r>
                        <a:rPr sz="1800" b="0">
                          <a:solidFill>
                            <a:srgbClr val="142D3B"/>
                          </a:solidFill>
                          <a:latin typeface="Arial"/>
                          <a:ea typeface="Arial"/>
                          <a:cs typeface="Arial"/>
                        </a:rPr>
                        <a:t>Exploración y gráficos</a:t>
                      </a:r>
                    </a:p>
                  </a:txBody>
                  <a:tcPr marL="91440" marR="91440" marT="45720" marB="45720">
                    <a:solidFill>
                      <a:srgbClr val="F4F7F8"/>
                    </a:solidFill>
                  </a:tcPr>
                </a:tc>
                <a:tc>
                  <a:txBody>
                    <a:bodyPr/>
                    <a:lstStyle/>
                    <a:p>
                      <a:r>
                        <a:rPr sz="1800" b="0">
                          <a:solidFill>
                            <a:srgbClr val="142D3B"/>
                          </a:solidFill>
                          <a:latin typeface="Arial"/>
                          <a:ea typeface="Arial"/>
                          <a:cs typeface="Arial"/>
                        </a:rPr>
                        <a:t>Jupyter, nbformat, nbclient, Matplotlib, Seaborn, Plotly</a:t>
                      </a:r>
                    </a:p>
                  </a:txBody>
                  <a:tcPr marL="91440" marR="91440" marT="45720" marB="45720">
                    <a:solidFill>
                      <a:srgbClr val="F4F7F8"/>
                    </a:solidFill>
                  </a:tcPr>
                </a:tc>
              </a:tr>
              <a:tr h="571500">
                <a:tc>
                  <a:txBody>
                    <a:bodyPr/>
                    <a:lstStyle/>
                    <a:p>
                      <a:r>
                        <a:rPr sz="1800" b="0">
                          <a:solidFill>
                            <a:srgbClr val="142D3B"/>
                          </a:solidFill>
                          <a:latin typeface="Arial"/>
                          <a:ea typeface="Arial"/>
                          <a:cs typeface="Arial"/>
                        </a:rPr>
                        <a:t>Consumo analítico</a:t>
                      </a:r>
                    </a:p>
                  </a:txBody>
                  <a:tcPr marL="91440" marR="91440" marT="45720" marB="45720">
                    <a:solidFill>
                      <a:srgbClr val="FFFFFF"/>
                    </a:solidFill>
                  </a:tcPr>
                </a:tc>
                <a:tc>
                  <a:txBody>
                    <a:bodyPr/>
                    <a:lstStyle/>
                    <a:p>
                      <a:r>
                        <a:rPr sz="1800" b="0">
                          <a:solidFill>
                            <a:srgbClr val="142D3B"/>
                          </a:solidFill>
                          <a:latin typeface="Arial"/>
                          <a:ea typeface="Arial"/>
                          <a:cs typeface="Arial"/>
                        </a:rPr>
                        <a:t>Power BI Desktop, modelo semántico y Streamlit</a:t>
                      </a:r>
                    </a:p>
                  </a:txBody>
                  <a:tcPr marL="91440" marR="91440" marT="45720" marB="45720">
                    <a:solidFill>
                      <a:srgbClr val="FFFFFF"/>
                    </a:solidFill>
                  </a:tcPr>
                </a:tc>
              </a:tr>
              <a:tr h="571500">
                <a:tc>
                  <a:txBody>
                    <a:bodyPr/>
                    <a:lstStyle/>
                    <a:p>
                      <a:r>
                        <a:rPr sz="1800" b="0">
                          <a:solidFill>
                            <a:srgbClr val="142D3B"/>
                          </a:solidFill>
                          <a:latin typeface="Arial"/>
                          <a:ea typeface="Arial"/>
                          <a:cs typeface="Arial"/>
                        </a:rPr>
                        <a:t>Calidad y distribución</a:t>
                      </a:r>
                    </a:p>
                  </a:txBody>
                  <a:tcPr marL="91440" marR="91440" marT="45720" marB="45720">
                    <a:solidFill>
                      <a:srgbClr val="F4F7F8"/>
                    </a:solidFill>
                  </a:tcPr>
                </a:tc>
                <a:tc>
                  <a:txBody>
                    <a:bodyPr/>
                    <a:lstStyle/>
                    <a:p>
                      <a:r>
                        <a:rPr sz="1800" b="0">
                          <a:solidFill>
                            <a:srgbClr val="142D3B"/>
                          </a:solidFill>
                          <a:latin typeface="Arial"/>
                          <a:ea typeface="Arial"/>
                          <a:cs typeface="Arial"/>
                        </a:rPr>
                        <a:t>pytest, Ruff, Git, GitHub, Docker y Compose</a:t>
                      </a:r>
                    </a:p>
                  </a:txBody>
                  <a:tcPr marL="91440" marR="91440" marT="45720" marB="45720">
                    <a:solidFill>
                      <a:srgbClr val="F4F7F8"/>
                    </a:solidFill>
                  </a:tcPr>
                </a:tc>
              </a:tr>
            </a:tbl>
          </a:graphicData>
        </a:graphic>
      </p:graphicFrame>
    </p:spTree>
    <p:extLst>
      <p:ext uri="{BB962C8B-B14F-4D97-AF65-F5344CB8AC3E}">
        <p14:creationId xmlns:p14="http://schemas.microsoft.com/office/powerpoint/2010/main" val="124345350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5761BEF-B39B-4876-9D43-5DF4F01CFE7B}"/>
              </a:ext>
            </a:extLst>
          </p:cNvPr>
          <p:cNvSpPr>
            <a:spLocks xmlns:a="http://schemas.openxmlformats.org/drawingml/2006/main" noGrp="1"/>
          </p:cNvSpPr>
          <p:nvPr/>
        </p:nvSpPr>
        <p:spPr>
          <a:xfrm xmlns:a="http://schemas.openxmlformats.org/drawingml/2006/main">
            <a:off x="609600" y="4476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142D3B"/>
                </a:solidFill>
                <a:latin typeface="Arial"/>
                <a:ea typeface="Arial"/>
                <a:cs typeface="Arial"/>
              </a:defRPr>
            </a:pPr>
            <a:r>
              <a:rPr sz="3225" b="1">
                <a:solidFill>
                  <a:srgbClr val="142D3B"/>
                </a:solidFill>
                <a:latin typeface="Arial"/>
                <a:ea typeface="Arial"/>
                <a:cs typeface="Arial"/>
              </a:rPr>
              <a:t>ETL sin pérdida de registros</a:t>
            </a:r>
          </a:p>
        </p:txBody>
      </p:sp>
      <p:sp>
        <p:nvSpPr>
          <p:cNvPr id="2" name="">
            <a:extLst xmlns:a="http://schemas.openxmlformats.org/drawingml/2006/main">
              <a:ext uri="{FF2B5EF4-FFF2-40B4-BE49-F238E27FC236}">
                <a16:creationId xmlns:a16="http://schemas.microsoft.com/office/drawing/2014/main" id="{305F5F15-74F5-4D4A-981C-B00A271EFA56}"/>
              </a:ext>
            </a:extLst>
          </p:cNvPr>
          <p:cNvSpPr>
            <a:spLocks xmlns:a="http://schemas.openxmlformats.org/drawingml/2006/main" noGrp="1"/>
          </p:cNvSpPr>
          <p:nvPr/>
        </p:nvSpPr>
        <p:spPr>
          <a:xfrm xmlns:a="http://schemas.openxmlformats.org/drawingml/2006/main">
            <a:off x="11049000" y="63246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471"/>
                </a:solidFill>
                <a:latin typeface="Arial"/>
                <a:ea typeface="Arial"/>
                <a:cs typeface="Arial"/>
              </a:defRPr>
            </a:pPr>
            <a:r>
              <a:rPr sz="1350" b="0">
                <a:solidFill>
                  <a:srgbClr val="526471"/>
                </a:solidFill>
                <a:latin typeface="Arial"/>
                <a:ea typeface="Arial"/>
                <a:cs typeface="Arial"/>
              </a:rPr>
              <a:t>06</a:t>
            </a:r>
          </a:p>
        </p:txBody>
      </p:sp>
      <p:graphicFrame>
        <p:nvGraphicFramePr>
          <p:cNvPr id="7" name=""/>
          <p:cNvGraphicFramePr/>
          <p:nvPr/>
        </p:nvGraphicFramePr>
        <p:xfrm>
          <a:off xmlns:a="http://schemas.openxmlformats.org/drawingml/2006/main" x="685800" y="1676400"/>
          <a:ext xmlns:a="http://schemas.openxmlformats.org/drawingml/2006/main" cx="10820400" cy="3143250"/>
        </p:xfrm>
        <a:graphic xmlns:a="http://schemas.openxmlformats.org/drawingml/2006/main">
          <a:graphicData uri="http://schemas.openxmlformats.org/drawingml/2006/table">
            <a:tbl>
              <a:tblPr/>
              <a:tblGrid>
                <a:gridCol w="3619500"/>
                <a:gridCol w="2190750"/>
                <a:gridCol w="5010150"/>
              </a:tblGrid>
              <a:tr h="628650">
                <a:tc>
                  <a:txBody>
                    <a:bodyPr/>
                    <a:lstStyle/>
                    <a:p>
                      <a:r>
                        <a:rPr sz="1950" b="1">
                          <a:solidFill>
                            <a:srgbClr val="FFFFFF"/>
                          </a:solidFill>
                          <a:latin typeface="Arial"/>
                          <a:ea typeface="Arial"/>
                          <a:cs typeface="Arial"/>
                        </a:rPr>
                        <a:t>Control</a:t>
                      </a:r>
                    </a:p>
                  </a:txBody>
                  <a:tcPr marL="91440" marR="91440" marT="45720" marB="45720">
                    <a:solidFill>
                      <a:srgbClr val="142D3B"/>
                    </a:solidFill>
                  </a:tcPr>
                </a:tc>
                <a:tc>
                  <a:txBody>
                    <a:bodyPr/>
                    <a:lstStyle/>
                    <a:p>
                      <a:r>
                        <a:rPr sz="1950" b="1">
                          <a:solidFill>
                            <a:srgbClr val="FFFFFF"/>
                          </a:solidFill>
                          <a:latin typeface="Arial"/>
                          <a:ea typeface="Arial"/>
                          <a:cs typeface="Arial"/>
                        </a:rPr>
                        <a:t>Resultado</a:t>
                      </a:r>
                    </a:p>
                  </a:txBody>
                  <a:tcPr marL="91440" marR="91440" marT="45720" marB="45720">
                    <a:solidFill>
                      <a:srgbClr val="142D3B"/>
                    </a:solidFill>
                  </a:tcPr>
                </a:tc>
                <a:tc>
                  <a:txBody>
                    <a:bodyPr/>
                    <a:lstStyle/>
                    <a:p>
                      <a:r>
                        <a:rPr sz="1950" b="1">
                          <a:solidFill>
                            <a:srgbClr val="FFFFFF"/>
                          </a:solidFill>
                          <a:latin typeface="Arial"/>
                          <a:ea typeface="Arial"/>
                          <a:cs typeface="Arial"/>
                        </a:rPr>
                        <a:t>Tratamiento</a:t>
                      </a:r>
                    </a:p>
                  </a:txBody>
                  <a:tcPr marL="91440" marR="91440" marT="45720" marB="45720">
                    <a:solidFill>
                      <a:srgbClr val="142D3B"/>
                    </a:solidFill>
                  </a:tcPr>
                </a:tc>
              </a:tr>
              <a:tr h="628650">
                <a:tc>
                  <a:txBody>
                    <a:bodyPr/>
                    <a:lstStyle/>
                    <a:p>
                      <a:r>
                        <a:rPr sz="1950" b="0">
                          <a:solidFill>
                            <a:srgbClr val="142D3B"/>
                          </a:solidFill>
                          <a:latin typeface="Arial"/>
                          <a:ea typeface="Arial"/>
                          <a:cs typeface="Arial"/>
                        </a:rPr>
                        <a:t>Conciliación de filas</a:t>
                      </a:r>
                    </a:p>
                  </a:txBody>
                  <a:tcPr marL="91440" marR="91440" marT="45720" marB="45720">
                    <a:solidFill>
                      <a:srgbClr val="FFFFFF"/>
                    </a:solidFill>
                  </a:tcPr>
                </a:tc>
                <a:tc>
                  <a:txBody>
                    <a:bodyPr/>
                    <a:lstStyle/>
                    <a:p>
                      <a:r>
                        <a:rPr sz="1950" b="0">
                          <a:solidFill>
                            <a:srgbClr val="142D3B"/>
                          </a:solidFill>
                          <a:latin typeface="Arial"/>
                          <a:ea typeface="Arial"/>
                          <a:cs typeface="Arial"/>
                        </a:rPr>
                        <a:t>220.031 / 220.031</a:t>
                      </a:r>
                    </a:p>
                  </a:txBody>
                  <a:tcPr marL="91440" marR="91440" marT="45720" marB="45720">
                    <a:solidFill>
                      <a:srgbClr val="FFFFFF"/>
                    </a:solidFill>
                  </a:tcPr>
                </a:tc>
                <a:tc>
                  <a:txBody>
                    <a:bodyPr/>
                    <a:lstStyle/>
                    <a:p>
                      <a:r>
                        <a:rPr sz="1950" b="0">
                          <a:solidFill>
                            <a:srgbClr val="142D3B"/>
                          </a:solidFill>
                          <a:latin typeface="Arial"/>
                          <a:ea typeface="Arial"/>
                          <a:cs typeface="Arial"/>
                        </a:rPr>
                        <a:t>Ningún anuncio eliminado</a:t>
                      </a:r>
                    </a:p>
                  </a:txBody>
                  <a:tcPr marL="91440" marR="91440" marT="45720" marB="45720">
                    <a:solidFill>
                      <a:srgbClr val="FFFFFF"/>
                    </a:solidFill>
                  </a:tcPr>
                </a:tc>
              </a:tr>
              <a:tr h="628650">
                <a:tc>
                  <a:txBody>
                    <a:bodyPr/>
                    <a:lstStyle/>
                    <a:p>
                      <a:r>
                        <a:rPr sz="1950" b="0">
                          <a:solidFill>
                            <a:srgbClr val="142D3B"/>
                          </a:solidFill>
                          <a:latin typeface="Arial"/>
                          <a:ea typeface="Arial"/>
                          <a:cs typeface="Arial"/>
                        </a:rPr>
                        <a:t>Actividad derivada a cero</a:t>
                      </a:r>
                    </a:p>
                  </a:txBody>
                  <a:tcPr marL="91440" marR="91440" marT="45720" marB="45720">
                    <a:solidFill>
                      <a:srgbClr val="F4F7F8"/>
                    </a:solidFill>
                  </a:tcPr>
                </a:tc>
                <a:tc>
                  <a:txBody>
                    <a:bodyPr/>
                    <a:lstStyle/>
                    <a:p>
                      <a:r>
                        <a:rPr sz="1950" b="0">
                          <a:solidFill>
                            <a:srgbClr val="142D3B"/>
                          </a:solidFill>
                          <a:latin typeface="Arial"/>
                          <a:ea typeface="Arial"/>
                          <a:cs typeface="Arial"/>
                        </a:rPr>
                        <a:t>54.248</a:t>
                      </a:r>
                    </a:p>
                  </a:txBody>
                  <a:tcPr marL="91440" marR="91440" marT="45720" marB="45720">
                    <a:solidFill>
                      <a:srgbClr val="F4F7F8"/>
                    </a:solidFill>
                  </a:tcPr>
                </a:tc>
                <a:tc>
                  <a:txBody>
                    <a:bodyPr/>
                    <a:lstStyle/>
                    <a:p>
                      <a:r>
                        <a:rPr sz="1950" b="0">
                          <a:solidFill>
                            <a:srgbClr val="142D3B"/>
                          </a:solidFill>
                          <a:latin typeface="Arial"/>
                          <a:ea typeface="Arial"/>
                          <a:cs typeface="Arial"/>
                        </a:rPr>
                        <a:t>Solo cuando no hay reseñas</a:t>
                      </a:r>
                    </a:p>
                  </a:txBody>
                  <a:tcPr marL="91440" marR="91440" marT="45720" marB="45720">
                    <a:solidFill>
                      <a:srgbClr val="F4F7F8"/>
                    </a:solidFill>
                  </a:tcPr>
                </a:tc>
              </a:tr>
              <a:tr h="628650">
                <a:tc>
                  <a:txBody>
                    <a:bodyPr/>
                    <a:lstStyle/>
                    <a:p>
                      <a:r>
                        <a:rPr sz="1950" b="0">
                          <a:solidFill>
                            <a:srgbClr val="142D3B"/>
                          </a:solidFill>
                          <a:latin typeface="Arial"/>
                          <a:ea typeface="Arial"/>
                          <a:cs typeface="Arial"/>
                        </a:rPr>
                        <a:t>Actividad desconocida</a:t>
                      </a:r>
                    </a:p>
                  </a:txBody>
                  <a:tcPr marL="91440" marR="91440" marT="45720" marB="45720">
                    <a:solidFill>
                      <a:srgbClr val="FFFFFF"/>
                    </a:solidFill>
                  </a:tcPr>
                </a:tc>
                <a:tc>
                  <a:txBody>
                    <a:bodyPr/>
                    <a:lstStyle/>
                    <a:p>
                      <a:r>
                        <a:rPr sz="1950" b="0">
                          <a:solidFill>
                            <a:srgbClr val="142D3B"/>
                          </a:solidFill>
                          <a:latin typeface="Arial"/>
                          <a:ea typeface="Arial"/>
                          <a:cs typeface="Arial"/>
                        </a:rPr>
                        <a:t>123</a:t>
                      </a:r>
                    </a:p>
                  </a:txBody>
                  <a:tcPr marL="91440" marR="91440" marT="45720" marB="45720">
                    <a:solidFill>
                      <a:srgbClr val="FFFFFF"/>
                    </a:solidFill>
                  </a:tcPr>
                </a:tc>
                <a:tc>
                  <a:txBody>
                    <a:bodyPr/>
                    <a:lstStyle/>
                    <a:p>
                      <a:r>
                        <a:rPr sz="1950" b="0">
                          <a:solidFill>
                            <a:srgbClr val="142D3B"/>
                          </a:solidFill>
                          <a:latin typeface="Arial"/>
                          <a:ea typeface="Arial"/>
                          <a:cs typeface="Arial"/>
                        </a:rPr>
                        <a:t>Permanece ausente</a:t>
                      </a:r>
                    </a:p>
                  </a:txBody>
                  <a:tcPr marL="91440" marR="91440" marT="45720" marB="45720">
                    <a:solidFill>
                      <a:srgbClr val="FFFFFF"/>
                    </a:solidFill>
                  </a:tcPr>
                </a:tc>
              </a:tr>
              <a:tr h="628650">
                <a:tc>
                  <a:txBody>
                    <a:bodyPr/>
                    <a:lstStyle/>
                    <a:p>
                      <a:r>
                        <a:rPr sz="1950" b="0">
                          <a:solidFill>
                            <a:srgbClr val="142D3B"/>
                          </a:solidFill>
                          <a:latin typeface="Arial"/>
                          <a:ea typeface="Arial"/>
                          <a:cs typeface="Arial"/>
                        </a:rPr>
                        <a:t>Precio no válido</a:t>
                      </a:r>
                    </a:p>
                  </a:txBody>
                  <a:tcPr marL="91440" marR="91440" marT="45720" marB="45720">
                    <a:solidFill>
                      <a:srgbClr val="F4F7F8"/>
                    </a:solidFill>
                  </a:tcPr>
                </a:tc>
                <a:tc>
                  <a:txBody>
                    <a:bodyPr/>
                    <a:lstStyle/>
                    <a:p>
                      <a:r>
                        <a:rPr sz="1950" b="0">
                          <a:solidFill>
                            <a:srgbClr val="142D3B"/>
                          </a:solidFill>
                          <a:latin typeface="Arial"/>
                          <a:ea typeface="Arial"/>
                          <a:cs typeface="Arial"/>
                        </a:rPr>
                        <a:t>50</a:t>
                      </a:r>
                    </a:p>
                  </a:txBody>
                  <a:tcPr marL="91440" marR="91440" marT="45720" marB="45720">
                    <a:solidFill>
                      <a:srgbClr val="F4F7F8"/>
                    </a:solidFill>
                  </a:tcPr>
                </a:tc>
                <a:tc>
                  <a:txBody>
                    <a:bodyPr/>
                    <a:lstStyle/>
                    <a:p>
                      <a:r>
                        <a:rPr sz="1950" b="0">
                          <a:solidFill>
                            <a:srgbClr val="142D3B"/>
                          </a:solidFill>
                          <a:latin typeface="Arial"/>
                          <a:ea typeface="Arial"/>
                          <a:cs typeface="Arial"/>
                        </a:rPr>
                        <a:t>Excluir solo de métricas de precio</a:t>
                      </a:r>
                    </a:p>
                  </a:txBody>
                  <a:tcPr marL="91440" marR="91440" marT="45720" marB="45720">
                    <a:solidFill>
                      <a:srgbClr val="F4F7F8"/>
                    </a:solidFill>
                  </a:tcPr>
                </a:tc>
              </a:tr>
            </a:tbl>
          </a:graphicData>
        </a:graphic>
      </p:graphicFrame>
      <p:sp>
        <p:nvSpPr>
          <p:cNvPr id="4" name="">
            <a:extLst xmlns:a="http://schemas.openxmlformats.org/drawingml/2006/main">
              <a:ext uri="{FF2B5EF4-FFF2-40B4-BE49-F238E27FC236}">
                <a16:creationId xmlns:a16="http://schemas.microsoft.com/office/drawing/2014/main" id="{8D75539E-A577-4117-B7F3-0251DCF57673}"/>
              </a:ext>
            </a:extLst>
          </p:cNvPr>
          <p:cNvSpPr>
            <a:spLocks xmlns:a="http://schemas.openxmlformats.org/drawingml/2006/main" noGrp="1"/>
          </p:cNvSpPr>
          <p:nvPr/>
        </p:nvSpPr>
        <p:spPr>
          <a:xfrm xmlns:a="http://schemas.openxmlformats.org/drawingml/2006/main">
            <a:off x="685800" y="56578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526471"/>
                </a:solidFill>
                <a:latin typeface="Arial"/>
                <a:ea typeface="Arial"/>
                <a:cs typeface="Arial"/>
              </a:defRPr>
            </a:pPr>
            <a:r>
              <a:rPr sz="1575" b="0">
                <a:solidFill>
                  <a:srgbClr val="526471"/>
                </a:solidFill>
                <a:latin typeface="Arial"/>
                <a:ea typeface="Arial"/>
                <a:cs typeface="Arial"/>
              </a:rPr>
              <a:t>219.908 anuncios tienen actividad analizable. Los nulos estructurales siguen siendo nulos.</a:t>
            </a:r>
          </a:p>
        </p:txBody>
      </p:sp>
    </p:spTree>
    <p:extLst>
      <p:ext uri="{BB962C8B-B14F-4D97-AF65-F5344CB8AC3E}">
        <p14:creationId xmlns:p14="http://schemas.microsoft.com/office/powerpoint/2010/main" val="60121867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DC441FE-4BEC-489A-9858-8B8D61B611C9}"/>
              </a:ext>
            </a:extLst>
          </p:cNvPr>
          <p:cNvSpPr>
            <a:spLocks xmlns:a="http://schemas.openxmlformats.org/drawingml/2006/main" noGrp="1"/>
          </p:cNvSpPr>
          <p:nvPr/>
        </p:nvSpPr>
        <p:spPr>
          <a:xfrm xmlns:a="http://schemas.openxmlformats.org/drawingml/2006/main">
            <a:off x="609600" y="4476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142D3B"/>
                </a:solidFill>
                <a:latin typeface="Arial"/>
                <a:ea typeface="Arial"/>
                <a:cs typeface="Arial"/>
              </a:defRPr>
            </a:pPr>
            <a:r>
              <a:rPr sz="3225" b="1">
                <a:solidFill>
                  <a:srgbClr val="142D3B"/>
                </a:solidFill>
                <a:latin typeface="Arial"/>
                <a:ea typeface="Arial"/>
                <a:cs typeface="Arial"/>
              </a:rPr>
              <a:t>Notebooks y reproducibilidad</a:t>
            </a:r>
          </a:p>
        </p:txBody>
      </p:sp>
      <p:sp>
        <p:nvSpPr>
          <p:cNvPr id="2" name="">
            <a:extLst xmlns:a="http://schemas.openxmlformats.org/drawingml/2006/main">
              <a:ext uri="{FF2B5EF4-FFF2-40B4-BE49-F238E27FC236}">
                <a16:creationId xmlns:a16="http://schemas.microsoft.com/office/drawing/2014/main" id="{4DFAA0FB-6EEB-4AD2-83F2-BEBE535B6B38}"/>
              </a:ext>
            </a:extLst>
          </p:cNvPr>
          <p:cNvSpPr>
            <a:spLocks xmlns:a="http://schemas.openxmlformats.org/drawingml/2006/main" noGrp="1"/>
          </p:cNvSpPr>
          <p:nvPr/>
        </p:nvSpPr>
        <p:spPr>
          <a:xfrm xmlns:a="http://schemas.openxmlformats.org/drawingml/2006/main">
            <a:off x="11049000" y="63246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471"/>
                </a:solidFill>
                <a:latin typeface="Arial"/>
                <a:ea typeface="Arial"/>
                <a:cs typeface="Arial"/>
              </a:defRPr>
            </a:pPr>
            <a:r>
              <a:rPr sz="1350" b="0">
                <a:solidFill>
                  <a:srgbClr val="526471"/>
                </a:solidFill>
                <a:latin typeface="Arial"/>
                <a:ea typeface="Arial"/>
                <a:cs typeface="Arial"/>
              </a:rPr>
              <a:t>07</a:t>
            </a:r>
          </a:p>
        </p:txBody>
      </p:sp>
      <p:graphicFrame>
        <p:nvGraphicFramePr>
          <p:cNvPr id="7" name=""/>
          <p:cNvGraphicFramePr/>
          <p:nvPr/>
        </p:nvGraphicFramePr>
        <p:xfrm>
          <a:off xmlns:a="http://schemas.openxmlformats.org/drawingml/2006/main" x="685800" y="1676400"/>
          <a:ext xmlns:a="http://schemas.openxmlformats.org/drawingml/2006/main" cx="10820400" cy="2743200"/>
        </p:xfrm>
        <a:graphic xmlns:a="http://schemas.openxmlformats.org/drawingml/2006/main">
          <a:graphicData uri="http://schemas.openxmlformats.org/drawingml/2006/table">
            <a:tbl>
              <a:tblPr/>
              <a:tblGrid>
                <a:gridCol w="3476625"/>
                <a:gridCol w="7343775"/>
              </a:tblGrid>
              <a:tr h="685800">
                <a:tc>
                  <a:txBody>
                    <a:bodyPr/>
                    <a:lstStyle/>
                    <a:p>
                      <a:r>
                        <a:rPr sz="2025" b="1">
                          <a:solidFill>
                            <a:srgbClr val="FFFFFF"/>
                          </a:solidFill>
                          <a:latin typeface="Arial"/>
                          <a:ea typeface="Arial"/>
                          <a:cs typeface="Arial"/>
                        </a:rPr>
                        <a:t>Notebook</a:t>
                      </a:r>
                    </a:p>
                  </a:txBody>
                  <a:tcPr marL="91440" marR="91440" marT="45720" marB="45720">
                    <a:solidFill>
                      <a:srgbClr val="142D3B"/>
                    </a:solidFill>
                  </a:tcPr>
                </a:tc>
                <a:tc>
                  <a:txBody>
                    <a:bodyPr/>
                    <a:lstStyle/>
                    <a:p>
                      <a:r>
                        <a:rPr sz="2025" b="1">
                          <a:solidFill>
                            <a:srgbClr val="FFFFFF"/>
                          </a:solidFill>
                          <a:latin typeface="Arial"/>
                          <a:ea typeface="Arial"/>
                          <a:cs typeface="Arial"/>
                        </a:rPr>
                        <a:t>Pregunta y evidencia</a:t>
                      </a:r>
                    </a:p>
                  </a:txBody>
                  <a:tcPr marL="91440" marR="91440" marT="45720" marB="45720">
                    <a:solidFill>
                      <a:srgbClr val="142D3B"/>
                    </a:solidFill>
                  </a:tcPr>
                </a:tc>
              </a:tr>
              <a:tr h="685800">
                <a:tc>
                  <a:txBody>
                    <a:bodyPr/>
                    <a:lstStyle/>
                    <a:p>
                      <a:r>
                        <a:rPr sz="2025" b="0">
                          <a:solidFill>
                            <a:srgbClr val="142D3B"/>
                          </a:solidFill>
                          <a:latin typeface="Arial"/>
                          <a:ea typeface="Arial"/>
                          <a:cs typeface="Arial"/>
                        </a:rPr>
                        <a:t>01 · Auditoría</a:t>
                      </a:r>
                    </a:p>
                  </a:txBody>
                  <a:tcPr marL="91440" marR="91440" marT="45720" marB="45720">
                    <a:solidFill>
                      <a:srgbClr val="FFFFFF"/>
                    </a:solidFill>
                  </a:tcPr>
                </a:tc>
                <a:tc>
                  <a:txBody>
                    <a:bodyPr/>
                    <a:lstStyle/>
                    <a:p>
                      <a:r>
                        <a:rPr sz="2025" b="0">
                          <a:solidFill>
                            <a:srgbClr val="142D3B"/>
                          </a:solidFill>
                          <a:latin typeface="Arial"/>
                          <a:ea typeface="Arial"/>
                          <a:cs typeface="Arial"/>
                        </a:rPr>
                        <a:t>¿Qué contienen las fuentes y qué calidad tienen?</a:t>
                      </a:r>
                    </a:p>
                  </a:txBody>
                  <a:tcPr marL="91440" marR="91440" marT="45720" marB="45720">
                    <a:solidFill>
                      <a:srgbClr val="FFFFFF"/>
                    </a:solidFill>
                  </a:tcPr>
                </a:tc>
              </a:tr>
              <a:tr h="685800">
                <a:tc>
                  <a:txBody>
                    <a:bodyPr/>
                    <a:lstStyle/>
                    <a:p>
                      <a:r>
                        <a:rPr sz="2025" b="0">
                          <a:solidFill>
                            <a:srgbClr val="142D3B"/>
                          </a:solidFill>
                          <a:latin typeface="Arial"/>
                          <a:ea typeface="Arial"/>
                          <a:cs typeface="Arial"/>
                        </a:rPr>
                        <a:t>02 · ETL</a:t>
                      </a:r>
                    </a:p>
                  </a:txBody>
                  <a:tcPr marL="91440" marR="91440" marT="45720" marB="45720">
                    <a:solidFill>
                      <a:srgbClr val="F4F7F8"/>
                    </a:solidFill>
                  </a:tcPr>
                </a:tc>
                <a:tc>
                  <a:txBody>
                    <a:bodyPr/>
                    <a:lstStyle/>
                    <a:p>
                      <a:r>
                        <a:rPr sz="2025" b="0">
                          <a:solidFill>
                            <a:srgbClr val="142D3B"/>
                          </a:solidFill>
                          <a:latin typeface="Arial"/>
                          <a:ea typeface="Arial"/>
                          <a:cs typeface="Arial"/>
                        </a:rPr>
                        <a:t>¿Cómo se armonizan y concilian las 220.031 filas?</a:t>
                      </a:r>
                    </a:p>
                  </a:txBody>
                  <a:tcPr marL="91440" marR="91440" marT="45720" marB="45720">
                    <a:solidFill>
                      <a:srgbClr val="F4F7F8"/>
                    </a:solidFill>
                  </a:tcPr>
                </a:tc>
              </a:tr>
              <a:tr h="685800">
                <a:tc>
                  <a:txBody>
                    <a:bodyPr/>
                    <a:lstStyle/>
                    <a:p>
                      <a:r>
                        <a:rPr sz="2025" b="0">
                          <a:solidFill>
                            <a:srgbClr val="142D3B"/>
                          </a:solidFill>
                          <a:latin typeface="Arial"/>
                          <a:ea typeface="Arial"/>
                          <a:cs typeface="Arial"/>
                        </a:rPr>
                        <a:t>03 · EDA ejecutivo</a:t>
                      </a:r>
                    </a:p>
                  </a:txBody>
                  <a:tcPr marL="91440" marR="91440" marT="45720" marB="45720">
                    <a:solidFill>
                      <a:srgbClr val="FFFFFF"/>
                    </a:solidFill>
                  </a:tcPr>
                </a:tc>
                <a:tc>
                  <a:txBody>
                    <a:bodyPr/>
                    <a:lstStyle/>
                    <a:p>
                      <a:r>
                        <a:rPr sz="2025" b="0">
                          <a:solidFill>
                            <a:srgbClr val="142D3B"/>
                          </a:solidFill>
                          <a:latin typeface="Arial"/>
                          <a:ea typeface="Arial"/>
                          <a:cs typeface="Arial"/>
                        </a:rPr>
                        <a:t>¿Qué segmentos cumplen las reglas y dónde están?</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93B734C-82C7-4F9C-86E7-BAB52732EA60}"/>
              </a:ext>
            </a:extLst>
          </p:cNvPr>
          <p:cNvSpPr>
            <a:spLocks xmlns:a="http://schemas.openxmlformats.org/drawingml/2006/main" noGrp="1"/>
          </p:cNvSpPr>
          <p:nvPr/>
        </p:nvSpPr>
        <p:spPr>
          <a:xfrm xmlns:a="http://schemas.openxmlformats.org/drawingml/2006/main">
            <a:off x="685800" y="47625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D3B"/>
                </a:solidFill>
                <a:latin typeface="Arial"/>
                <a:ea typeface="Arial"/>
                <a:cs typeface="Arial"/>
              </a:defRPr>
            </a:pPr>
            <a:r>
              <a:rPr sz="2025" b="0">
                <a:solidFill>
                  <a:srgbClr val="142D3B"/>
                </a:solidFill>
                <a:latin typeface="Arial"/>
                <a:ea typeface="Arial"/>
                <a:cs typeface="Arial"/>
              </a:rPr>
              <a:t>El generador conserva las nuevas celdas geográficas.</a:t>
            </a:r>
          </a:p>
          <a:p xmlns:a="http://schemas.openxmlformats.org/drawingml/2006/main">
            <a:pPr>
              <a:defRPr sz="2025" b="0">
                <a:solidFill>
                  <a:srgbClr val="142D3B"/>
                </a:solidFill>
                <a:latin typeface="Arial"/>
                <a:ea typeface="Arial"/>
                <a:cs typeface="Arial"/>
              </a:defRPr>
            </a:pPr>
            <a:r>
              <a:rPr sz="2025" b="0">
                <a:solidFill>
                  <a:srgbClr val="142D3B"/>
                </a:solidFill>
                <a:latin typeface="Arial"/>
                <a:ea typeface="Arial"/>
                <a:cs typeface="Arial"/>
              </a:rPr>
              <a:t>Cada ejecución usa los artefactos del build y un kernel limpio.</a:t>
            </a:r>
          </a:p>
        </p:txBody>
      </p:sp>
    </p:spTree>
    <p:extLst>
      <p:ext uri="{BB962C8B-B14F-4D97-AF65-F5344CB8AC3E}">
        <p14:creationId xmlns:p14="http://schemas.microsoft.com/office/powerpoint/2010/main" val="160104561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BEC1FD7-7ADD-4F54-8816-C145884D83AB}"/>
              </a:ext>
            </a:extLst>
          </p:cNvPr>
          <p:cNvSpPr>
            <a:spLocks xmlns:a="http://schemas.openxmlformats.org/drawingml/2006/main" noGrp="1"/>
          </p:cNvSpPr>
          <p:nvPr/>
        </p:nvSpPr>
        <p:spPr>
          <a:xfrm xmlns:a="http://schemas.openxmlformats.org/drawingml/2006/main">
            <a:off x="609600" y="4476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142D3B"/>
                </a:solidFill>
                <a:latin typeface="Arial"/>
                <a:ea typeface="Arial"/>
                <a:cs typeface="Arial"/>
              </a:defRPr>
            </a:pPr>
            <a:r>
              <a:rPr sz="3225" b="1">
                <a:solidFill>
                  <a:srgbClr val="142D3B"/>
                </a:solidFill>
                <a:latin typeface="Arial"/>
                <a:ea typeface="Arial"/>
                <a:cs typeface="Arial"/>
              </a:rPr>
              <a:t>Métodos estadísticos</a:t>
            </a:r>
          </a:p>
        </p:txBody>
      </p:sp>
      <p:sp>
        <p:nvSpPr>
          <p:cNvPr id="2" name="">
            <a:extLst xmlns:a="http://schemas.openxmlformats.org/drawingml/2006/main">
              <a:ext uri="{FF2B5EF4-FFF2-40B4-BE49-F238E27FC236}">
                <a16:creationId xmlns:a16="http://schemas.microsoft.com/office/drawing/2014/main" id="{013361E0-0E61-4539-B859-B282F10588DE}"/>
              </a:ext>
            </a:extLst>
          </p:cNvPr>
          <p:cNvSpPr>
            <a:spLocks xmlns:a="http://schemas.openxmlformats.org/drawingml/2006/main" noGrp="1"/>
          </p:cNvSpPr>
          <p:nvPr/>
        </p:nvSpPr>
        <p:spPr>
          <a:xfrm xmlns:a="http://schemas.openxmlformats.org/drawingml/2006/main">
            <a:off x="11049000" y="63246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471"/>
                </a:solidFill>
                <a:latin typeface="Arial"/>
                <a:ea typeface="Arial"/>
                <a:cs typeface="Arial"/>
              </a:defRPr>
            </a:pPr>
            <a:r>
              <a:rPr sz="1350" b="0">
                <a:solidFill>
                  <a:srgbClr val="526471"/>
                </a:solidFill>
                <a:latin typeface="Arial"/>
                <a:ea typeface="Arial"/>
                <a:cs typeface="Arial"/>
              </a:rPr>
              <a:t>08</a:t>
            </a:r>
          </a:p>
        </p:txBody>
      </p:sp>
      <p:graphicFrame>
        <p:nvGraphicFramePr>
          <p:cNvPr id="7" name=""/>
          <p:cNvGraphicFramePr/>
          <p:nvPr/>
        </p:nvGraphicFramePr>
        <p:xfrm>
          <a:off xmlns:a="http://schemas.openxmlformats.org/drawingml/2006/main" x="685800" y="1676400"/>
          <a:ext xmlns:a="http://schemas.openxmlformats.org/drawingml/2006/main" cx="10820400" cy="2809875"/>
        </p:xfrm>
        <a:graphic xmlns:a="http://schemas.openxmlformats.org/drawingml/2006/main">
          <a:graphicData uri="http://schemas.openxmlformats.org/drawingml/2006/table">
            <a:tbl>
              <a:tblPr/>
              <a:tblGrid>
                <a:gridCol w="2809875"/>
                <a:gridCol w="3333750"/>
                <a:gridCol w="4676775"/>
              </a:tblGrid>
              <a:tr h="702469">
                <a:tc>
                  <a:txBody>
                    <a:bodyPr/>
                    <a:lstStyle/>
                    <a:p>
                      <a:r>
                        <a:rPr sz="1875" b="1">
                          <a:solidFill>
                            <a:srgbClr val="FFFFFF"/>
                          </a:solidFill>
                          <a:latin typeface="Arial"/>
                          <a:ea typeface="Arial"/>
                          <a:cs typeface="Arial"/>
                        </a:rPr>
                        <a:t>Pregunta</a:t>
                      </a:r>
                    </a:p>
                  </a:txBody>
                  <a:tcPr marL="91440" marR="91440" marT="45720" marB="45720">
                    <a:solidFill>
                      <a:srgbClr val="142D3B"/>
                    </a:solidFill>
                  </a:tcPr>
                </a:tc>
                <a:tc>
                  <a:txBody>
                    <a:bodyPr/>
                    <a:lstStyle/>
                    <a:p>
                      <a:r>
                        <a:rPr sz="1875" b="1">
                          <a:solidFill>
                            <a:srgbClr val="FFFFFF"/>
                          </a:solidFill>
                          <a:latin typeface="Arial"/>
                          <a:ea typeface="Arial"/>
                          <a:cs typeface="Arial"/>
                        </a:rPr>
                        <a:t>Método</a:t>
                      </a:r>
                    </a:p>
                  </a:txBody>
                  <a:tcPr marL="91440" marR="91440" marT="45720" marB="45720">
                    <a:solidFill>
                      <a:srgbClr val="142D3B"/>
                    </a:solidFill>
                  </a:tcPr>
                </a:tc>
                <a:tc>
                  <a:txBody>
                    <a:bodyPr/>
                    <a:lstStyle/>
                    <a:p>
                      <a:r>
                        <a:rPr sz="1875" b="1">
                          <a:solidFill>
                            <a:srgbClr val="FFFFFF"/>
                          </a:solidFill>
                          <a:latin typeface="Arial"/>
                          <a:ea typeface="Arial"/>
                          <a:cs typeface="Arial"/>
                        </a:rPr>
                        <a:t>Lectura</a:t>
                      </a:r>
                    </a:p>
                  </a:txBody>
                  <a:tcPr marL="91440" marR="91440" marT="45720" marB="45720">
                    <a:solidFill>
                      <a:srgbClr val="142D3B"/>
                    </a:solidFill>
                  </a:tcPr>
                </a:tc>
              </a:tr>
              <a:tr h="702469">
                <a:tc>
                  <a:txBody>
                    <a:bodyPr/>
                    <a:lstStyle/>
                    <a:p>
                      <a:r>
                        <a:rPr sz="1875" b="0">
                          <a:solidFill>
                            <a:srgbClr val="142D3B"/>
                          </a:solidFill>
                          <a:latin typeface="Arial"/>
                          <a:ea typeface="Arial"/>
                          <a:cs typeface="Arial"/>
                        </a:rPr>
                        <a:t>H1 · Tipología</a:t>
                      </a:r>
                    </a:p>
                  </a:txBody>
                  <a:tcPr marL="91440" marR="91440" marT="45720" marB="45720">
                    <a:solidFill>
                      <a:srgbClr val="FFFFFF"/>
                    </a:solidFill>
                  </a:tcPr>
                </a:tc>
                <a:tc>
                  <a:txBody>
                    <a:bodyPr/>
                    <a:lstStyle/>
                    <a:p>
                      <a:r>
                        <a:rPr sz="1875" b="0">
                          <a:solidFill>
                            <a:srgbClr val="142D3B"/>
                          </a:solidFill>
                          <a:latin typeface="Arial"/>
                          <a:ea typeface="Arial"/>
                          <a:cs typeface="Arial"/>
                        </a:rPr>
                        <a:t>Kruskal-Wallis + Holm</a:t>
                      </a:r>
                    </a:p>
                  </a:txBody>
                  <a:tcPr marL="91440" marR="91440" marT="45720" marB="45720">
                    <a:solidFill>
                      <a:srgbClr val="FFFFFF"/>
                    </a:solidFill>
                  </a:tcPr>
                </a:tc>
                <a:tc>
                  <a:txBody>
                    <a:bodyPr/>
                    <a:lstStyle/>
                    <a:p>
                      <a:r>
                        <a:rPr sz="1875" b="0">
                          <a:solidFill>
                            <a:srgbClr val="142D3B"/>
                          </a:solidFill>
                          <a:latin typeface="Arial"/>
                          <a:ea typeface="Arial"/>
                          <a:cs typeface="Arial"/>
                        </a:rPr>
                        <a:t>Diferencia global y epsilon²</a:t>
                      </a:r>
                    </a:p>
                  </a:txBody>
                  <a:tcPr marL="91440" marR="91440" marT="45720" marB="45720">
                    <a:solidFill>
                      <a:srgbClr val="FFFFFF"/>
                    </a:solidFill>
                  </a:tcPr>
                </a:tc>
              </a:tr>
              <a:tr h="702469">
                <a:tc>
                  <a:txBody>
                    <a:bodyPr/>
                    <a:lstStyle/>
                    <a:p>
                      <a:r>
                        <a:rPr sz="1875" b="0">
                          <a:solidFill>
                            <a:srgbClr val="142D3B"/>
                          </a:solidFill>
                          <a:latin typeface="Arial"/>
                          <a:ea typeface="Arial"/>
                          <a:cs typeface="Arial"/>
                        </a:rPr>
                        <a:t>H2 · Segmento local</a:t>
                      </a:r>
                    </a:p>
                  </a:txBody>
                  <a:tcPr marL="91440" marR="91440" marT="45720" marB="45720">
                    <a:solidFill>
                      <a:srgbClr val="F4F7F8"/>
                    </a:solidFill>
                  </a:tcPr>
                </a:tc>
                <a:tc>
                  <a:txBody>
                    <a:bodyPr/>
                    <a:lstStyle/>
                    <a:p>
                      <a:r>
                        <a:rPr sz="1875" b="0">
                          <a:solidFill>
                            <a:srgbClr val="142D3B"/>
                          </a:solidFill>
                          <a:latin typeface="Arial"/>
                          <a:ea typeface="Arial"/>
                          <a:cs typeface="Arial"/>
                        </a:rPr>
                        <a:t>Mann-Whitney + BH</a:t>
                      </a:r>
                    </a:p>
                  </a:txBody>
                  <a:tcPr marL="91440" marR="91440" marT="45720" marB="45720">
                    <a:solidFill>
                      <a:srgbClr val="F4F7F8"/>
                    </a:solidFill>
                  </a:tcPr>
                </a:tc>
                <a:tc>
                  <a:txBody>
                    <a:bodyPr/>
                    <a:lstStyle/>
                    <a:p>
                      <a:r>
                        <a:rPr sz="1875" b="0">
                          <a:solidFill>
                            <a:srgbClr val="142D3B"/>
                          </a:solidFill>
                          <a:latin typeface="Arial"/>
                          <a:ea typeface="Arial"/>
                          <a:cs typeface="Arial"/>
                        </a:rPr>
                        <a:t>Superioridad e IC 95 % por anfitrión</a:t>
                      </a:r>
                    </a:p>
                  </a:txBody>
                  <a:tcPr marL="91440" marR="91440" marT="45720" marB="45720">
                    <a:solidFill>
                      <a:srgbClr val="F4F7F8"/>
                    </a:solidFill>
                  </a:tcPr>
                </a:tc>
              </a:tr>
              <a:tr h="702469">
                <a:tc>
                  <a:txBody>
                    <a:bodyPr/>
                    <a:lstStyle/>
                    <a:p>
                      <a:r>
                        <a:rPr sz="1875" b="0">
                          <a:solidFill>
                            <a:srgbClr val="142D3B"/>
                          </a:solidFill>
                          <a:latin typeface="Arial"/>
                          <a:ea typeface="Arial"/>
                          <a:cs typeface="Arial"/>
                        </a:rPr>
                        <a:t>H3 · Asociaciones</a:t>
                      </a:r>
                    </a:p>
                  </a:txBody>
                  <a:tcPr marL="91440" marR="91440" marT="45720" marB="45720">
                    <a:solidFill>
                      <a:srgbClr val="FFFFFF"/>
                    </a:solidFill>
                  </a:tcPr>
                </a:tc>
                <a:tc>
                  <a:txBody>
                    <a:bodyPr/>
                    <a:lstStyle/>
                    <a:p>
                      <a:r>
                        <a:rPr sz="1875" b="0">
                          <a:solidFill>
                            <a:srgbClr val="142D3B"/>
                          </a:solidFill>
                          <a:latin typeface="Arial"/>
                          <a:ea typeface="Arial"/>
                          <a:cs typeface="Arial"/>
                        </a:rPr>
                        <a:t>Spearman + BH</a:t>
                      </a:r>
                    </a:p>
                  </a:txBody>
                  <a:tcPr marL="91440" marR="91440" marT="45720" marB="45720">
                    <a:solidFill>
                      <a:srgbClr val="FFFFFF"/>
                    </a:solidFill>
                  </a:tcPr>
                </a:tc>
                <a:tc>
                  <a:txBody>
                    <a:bodyPr/>
                    <a:lstStyle/>
                    <a:p>
                      <a:r>
                        <a:rPr sz="1875" b="0">
                          <a:solidFill>
                            <a:srgbClr val="142D3B"/>
                          </a:solidFill>
                          <a:latin typeface="Arial"/>
                          <a:ea typeface="Arial"/>
                          <a:cs typeface="Arial"/>
                        </a:rPr>
                        <a:t>Precio y noches mínimas frente a actividad</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033D3F7-1CAD-4ED2-9BE6-0C64A9221586}"/>
              </a:ext>
            </a:extLst>
          </p:cNvPr>
          <p:cNvSpPr>
            <a:spLocks xmlns:a="http://schemas.openxmlformats.org/drawingml/2006/main" noGrp="1"/>
          </p:cNvSpPr>
          <p:nvPr/>
        </p:nvSpPr>
        <p:spPr>
          <a:xfrm xmlns:a="http://schemas.openxmlformats.org/drawingml/2006/main">
            <a:off x="685800" y="56578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526471"/>
                </a:solidFill>
                <a:latin typeface="Arial"/>
                <a:ea typeface="Arial"/>
                <a:cs typeface="Arial"/>
              </a:defRPr>
            </a:pPr>
            <a:r>
              <a:rPr sz="1575" b="0">
                <a:solidFill>
                  <a:srgbClr val="526471"/>
                </a:solidFill>
                <a:latin typeface="Arial"/>
                <a:ea typeface="Arial"/>
                <a:cs typeface="Arial"/>
              </a:rPr>
              <a:t>Sensibilidad: casos completos, outliers y unidad anfitrión. El modelo en dos partes separa presencia e intensidad de actividad.</a:t>
            </a:r>
          </a:p>
        </p:txBody>
      </p:sp>
    </p:spTree>
    <p:extLst>
      <p:ext uri="{BB962C8B-B14F-4D97-AF65-F5344CB8AC3E}">
        <p14:creationId xmlns:p14="http://schemas.microsoft.com/office/powerpoint/2010/main" val="52085242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C556EDD-7E18-4C00-9819-E3417A0E2FC1}"/>
              </a:ext>
            </a:extLst>
          </p:cNvPr>
          <p:cNvSpPr>
            <a:spLocks xmlns:a="http://schemas.openxmlformats.org/drawingml/2006/main" noGrp="1"/>
          </p:cNvSpPr>
          <p:nvPr/>
        </p:nvSpPr>
        <p:spPr>
          <a:xfrm xmlns:a="http://schemas.openxmlformats.org/drawingml/2006/main">
            <a:off x="609600" y="4476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142D3B"/>
                </a:solidFill>
                <a:latin typeface="Arial"/>
                <a:ea typeface="Arial"/>
                <a:cs typeface="Arial"/>
              </a:defRPr>
            </a:pPr>
            <a:r>
              <a:rPr sz="3225" b="1">
                <a:solidFill>
                  <a:srgbClr val="142D3B"/>
                </a:solidFill>
                <a:latin typeface="Arial"/>
                <a:ea typeface="Arial"/>
                <a:cs typeface="Arial"/>
              </a:rPr>
              <a:t>Reglas para clasificar un segmento</a:t>
            </a:r>
          </a:p>
        </p:txBody>
      </p:sp>
      <p:sp>
        <p:nvSpPr>
          <p:cNvPr id="2" name="">
            <a:extLst xmlns:a="http://schemas.openxmlformats.org/drawingml/2006/main">
              <a:ext uri="{FF2B5EF4-FFF2-40B4-BE49-F238E27FC236}">
                <a16:creationId xmlns:a16="http://schemas.microsoft.com/office/drawing/2014/main" id="{23F759A3-1D5F-4ACE-B591-896F349FA7D6}"/>
              </a:ext>
            </a:extLst>
          </p:cNvPr>
          <p:cNvSpPr>
            <a:spLocks xmlns:a="http://schemas.openxmlformats.org/drawingml/2006/main" noGrp="1"/>
          </p:cNvSpPr>
          <p:nvPr/>
        </p:nvSpPr>
        <p:spPr>
          <a:xfrm xmlns:a="http://schemas.openxmlformats.org/drawingml/2006/main">
            <a:off x="11049000" y="63246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471"/>
                </a:solidFill>
                <a:latin typeface="Arial"/>
                <a:ea typeface="Arial"/>
                <a:cs typeface="Arial"/>
              </a:defRPr>
            </a:pPr>
            <a:r>
              <a:rPr sz="1350" b="0">
                <a:solidFill>
                  <a:srgbClr val="526471"/>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14F294E0-DDE7-419D-AECD-4AB0FC3387E1}"/>
              </a:ext>
            </a:extLst>
          </p:cNvPr>
          <p:cNvSpPr>
            <a:spLocks xmlns:a="http://schemas.openxmlformats.org/drawingml/2006/main" noGrp="1"/>
          </p:cNvSpPr>
          <p:nvPr/>
        </p:nvSpPr>
        <p:spPr>
          <a:xfrm xmlns:a="http://schemas.openxmlformats.org/drawingml/2006/main">
            <a:off x="685800" y="1552575"/>
            <a:ext cx="108204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42D3B"/>
                </a:solidFill>
                <a:latin typeface="Arial"/>
                <a:ea typeface="Arial"/>
                <a:cs typeface="Arial"/>
              </a:defRPr>
            </a:pPr>
            <a:r>
              <a:rPr sz="2100" b="0">
                <a:solidFill>
                  <a:srgbClr val="142D3B"/>
                </a:solidFill>
                <a:latin typeface="Arial"/>
                <a:ea typeface="Arial"/>
                <a:cs typeface="Arial"/>
              </a:rPr>
              <a:t>Muestra: ≥ 30 anuncios analizables y ≥ 10 positivos</a:t>
            </a:r>
          </a:p>
          <a:p xmlns:a="http://schemas.openxmlformats.org/drawingml/2006/main">
            <a:pPr>
              <a:defRPr sz="2100" b="0">
                <a:solidFill>
                  <a:srgbClr val="142D3B"/>
                </a:solidFill>
                <a:latin typeface="Arial"/>
                <a:ea typeface="Arial"/>
                <a:cs typeface="Arial"/>
              </a:defRPr>
            </a:pPr>
            <a:r>
              <a:rPr sz="2100" b="0">
                <a:solidFill>
                  <a:srgbClr val="142D3B"/>
                </a:solidFill>
                <a:latin typeface="Arial"/>
                <a:ea typeface="Arial"/>
                <a:cs typeface="Arial"/>
              </a:rPr>
              <a:t>Evidencia: superioridad ≥ 0,56, IC inferior &gt; 0,50, q &lt; 0,05</a:t>
            </a:r>
          </a:p>
          <a:p xmlns:a="http://schemas.openxmlformats.org/drawingml/2006/main">
            <a:pPr>
              <a:defRPr sz="2100" b="0">
                <a:solidFill>
                  <a:srgbClr val="142D3B"/>
                </a:solidFill>
                <a:latin typeface="Arial"/>
                <a:ea typeface="Arial"/>
                <a:cs typeface="Arial"/>
              </a:defRPr>
            </a:pPr>
            <a:r>
              <a:rPr sz="2100" b="0">
                <a:solidFill>
                  <a:srgbClr val="142D3B"/>
                </a:solidFill>
                <a:latin typeface="Arial"/>
                <a:ea typeface="Arial"/>
                <a:cs typeface="Arial"/>
              </a:rPr>
              <a:t>Estabilidad: sensibilidades robustas</a:t>
            </a:r>
          </a:p>
        </p:txBody>
      </p:sp>
      <p:graphicFrame>
        <p:nvGraphicFramePr>
          <p:cNvPr id="9" name=""/>
          <p:cNvGraphicFramePr/>
          <p:nvPr/>
        </p:nvGraphicFramePr>
        <p:xfrm>
          <a:off xmlns:a="http://schemas.openxmlformats.org/drawingml/2006/main" x="685800" y="3362325"/>
          <a:ext xmlns:a="http://schemas.openxmlformats.org/drawingml/2006/main" cx="10820400" cy="2238375"/>
        </p:xfrm>
        <a:graphic xmlns:a="http://schemas.openxmlformats.org/drawingml/2006/main">
          <a:graphicData uri="http://schemas.openxmlformats.org/drawingml/2006/table">
            <a:tbl>
              <a:tblPr/>
              <a:tblGrid>
                <a:gridCol w="3095625"/>
                <a:gridCol w="6143625"/>
                <a:gridCol w="1581150"/>
              </a:tblGrid>
              <a:tr h="447675">
                <a:tc>
                  <a:txBody>
                    <a:bodyPr/>
                    <a:lstStyle/>
                    <a:p>
                      <a:r>
                        <a:rPr sz="1725" b="1">
                          <a:solidFill>
                            <a:srgbClr val="FFFFFF"/>
                          </a:solidFill>
                          <a:latin typeface="Arial"/>
                          <a:ea typeface="Arial"/>
                          <a:cs typeface="Arial"/>
                        </a:rPr>
                        <a:t>Estado</a:t>
                      </a:r>
                    </a:p>
                  </a:txBody>
                  <a:tcPr marL="91440" marR="91440" marT="45720" marB="45720">
                    <a:solidFill>
                      <a:srgbClr val="142D3B"/>
                    </a:solidFill>
                  </a:tcPr>
                </a:tc>
                <a:tc>
                  <a:txBody>
                    <a:bodyPr/>
                    <a:lstStyle/>
                    <a:p>
                      <a:r>
                        <a:rPr sz="1725" b="1">
                          <a:solidFill>
                            <a:srgbClr val="FFFFFF"/>
                          </a:solidFill>
                          <a:latin typeface="Arial"/>
                          <a:ea typeface="Arial"/>
                          <a:cs typeface="Arial"/>
                        </a:rPr>
                        <a:t>Interpretación</a:t>
                      </a:r>
                    </a:p>
                  </a:txBody>
                  <a:tcPr marL="91440" marR="91440" marT="45720" marB="45720">
                    <a:solidFill>
                      <a:srgbClr val="142D3B"/>
                    </a:solidFill>
                  </a:tcPr>
                </a:tc>
                <a:tc>
                  <a:txBody>
                    <a:bodyPr/>
                    <a:lstStyle/>
                    <a:p>
                      <a:r>
                        <a:rPr sz="1725" b="1">
                          <a:solidFill>
                            <a:srgbClr val="FFFFFF"/>
                          </a:solidFill>
                          <a:latin typeface="Arial"/>
                          <a:ea typeface="Arial"/>
                          <a:cs typeface="Arial"/>
                        </a:rPr>
                        <a:t>Segmentos</a:t>
                      </a:r>
                    </a:p>
                  </a:txBody>
                  <a:tcPr marL="91440" marR="91440" marT="45720" marB="45720">
                    <a:solidFill>
                      <a:srgbClr val="142D3B"/>
                    </a:solidFill>
                  </a:tcPr>
                </a:tc>
              </a:tr>
              <a:tr h="447675">
                <a:tc>
                  <a:txBody>
                    <a:bodyPr/>
                    <a:lstStyle/>
                    <a:p>
                      <a:r>
                        <a:rPr sz="1725" b="0">
                          <a:solidFill>
                            <a:srgbClr val="142D3B"/>
                          </a:solidFill>
                          <a:latin typeface="Arial"/>
                          <a:ea typeface="Arial"/>
                          <a:cs typeface="Arial"/>
                        </a:rPr>
                        <a:t>candidate</a:t>
                      </a:r>
                    </a:p>
                  </a:txBody>
                  <a:tcPr marL="91440" marR="91440" marT="45720" marB="45720">
                    <a:solidFill>
                      <a:srgbClr val="FFFFFF"/>
                    </a:solidFill>
                  </a:tcPr>
                </a:tc>
                <a:tc>
                  <a:txBody>
                    <a:bodyPr/>
                    <a:lstStyle/>
                    <a:p>
                      <a:r>
                        <a:rPr sz="1725" b="0">
                          <a:solidFill>
                            <a:srgbClr val="142D3B"/>
                          </a:solidFill>
                          <a:latin typeface="Arial"/>
                          <a:ea typeface="Arial"/>
                          <a:cs typeface="Arial"/>
                        </a:rPr>
                        <a:t>Evidencia robusta y menor cuota local</a:t>
                      </a:r>
                    </a:p>
                  </a:txBody>
                  <a:tcPr marL="91440" marR="91440" marT="45720" marB="45720">
                    <a:solidFill>
                      <a:srgbClr val="FFFFFF"/>
                    </a:solidFill>
                  </a:tcPr>
                </a:tc>
                <a:tc>
                  <a:txBody>
                    <a:bodyPr/>
                    <a:lstStyle/>
                    <a:p>
                      <a:r>
                        <a:rPr sz="1725" b="0">
                          <a:solidFill>
                            <a:srgbClr val="142D3B"/>
                          </a:solidFill>
                          <a:latin typeface="Arial"/>
                          <a:ea typeface="Arial"/>
                          <a:cs typeface="Arial"/>
                        </a:rPr>
                        <a:t>28</a:t>
                      </a:r>
                    </a:p>
                  </a:txBody>
                  <a:tcPr marL="91440" marR="91440" marT="45720" marB="45720">
                    <a:solidFill>
                      <a:srgbClr val="FFFFFF"/>
                    </a:solidFill>
                  </a:tcPr>
                </a:tc>
              </a:tr>
              <a:tr h="447675">
                <a:tc>
                  <a:txBody>
                    <a:bodyPr/>
                    <a:lstStyle/>
                    <a:p>
                      <a:r>
                        <a:rPr sz="1725" b="0">
                          <a:solidFill>
                            <a:srgbClr val="142D3B"/>
                          </a:solidFill>
                          <a:latin typeface="Arial"/>
                          <a:ea typeface="Arial"/>
                          <a:cs typeface="Arial"/>
                        </a:rPr>
                        <a:t>consolidated</a:t>
                      </a:r>
                    </a:p>
                  </a:txBody>
                  <a:tcPr marL="91440" marR="91440" marT="45720" marB="45720">
                    <a:solidFill>
                      <a:srgbClr val="F4F7F8"/>
                    </a:solidFill>
                  </a:tcPr>
                </a:tc>
                <a:tc>
                  <a:txBody>
                    <a:bodyPr/>
                    <a:lstStyle/>
                    <a:p>
                      <a:r>
                        <a:rPr sz="1725" b="0">
                          <a:solidFill>
                            <a:srgbClr val="142D3B"/>
                          </a:solidFill>
                          <a:latin typeface="Arial"/>
                          <a:ea typeface="Arial"/>
                          <a:cs typeface="Arial"/>
                        </a:rPr>
                        <a:t>Evidencia robusta sin menor cuota local</a:t>
                      </a:r>
                    </a:p>
                  </a:txBody>
                  <a:tcPr marL="91440" marR="91440" marT="45720" marB="45720">
                    <a:solidFill>
                      <a:srgbClr val="F4F7F8"/>
                    </a:solidFill>
                  </a:tcPr>
                </a:tc>
                <a:tc>
                  <a:txBody>
                    <a:bodyPr/>
                    <a:lstStyle/>
                    <a:p>
                      <a:r>
                        <a:rPr sz="1725" b="0">
                          <a:solidFill>
                            <a:srgbClr val="142D3B"/>
                          </a:solidFill>
                          <a:latin typeface="Arial"/>
                          <a:ea typeface="Arial"/>
                          <a:cs typeface="Arial"/>
                        </a:rPr>
                        <a:t>19</a:t>
                      </a:r>
                    </a:p>
                  </a:txBody>
                  <a:tcPr marL="91440" marR="91440" marT="45720" marB="45720">
                    <a:solidFill>
                      <a:srgbClr val="F4F7F8"/>
                    </a:solidFill>
                  </a:tcPr>
                </a:tc>
              </a:tr>
              <a:tr h="447675">
                <a:tc>
                  <a:txBody>
                    <a:bodyPr/>
                    <a:lstStyle/>
                    <a:p>
                      <a:r>
                        <a:rPr sz="1725" b="0">
                          <a:solidFill>
                            <a:srgbClr val="142D3B"/>
                          </a:solidFill>
                          <a:latin typeface="Arial"/>
                          <a:ea typeface="Arial"/>
                          <a:cs typeface="Arial"/>
                        </a:rPr>
                        <a:t>watch</a:t>
                      </a:r>
                    </a:p>
                  </a:txBody>
                  <a:tcPr marL="91440" marR="91440" marT="45720" marB="45720">
                    <a:solidFill>
                      <a:srgbClr val="FFFFFF"/>
                    </a:solidFill>
                  </a:tcPr>
                </a:tc>
                <a:tc>
                  <a:txBody>
                    <a:bodyPr/>
                    <a:lstStyle/>
                    <a:p>
                      <a:r>
                        <a:rPr sz="1725" b="0">
                          <a:solidFill>
                            <a:srgbClr val="142D3B"/>
                          </a:solidFill>
                          <a:latin typeface="Arial"/>
                          <a:ea typeface="Arial"/>
                          <a:cs typeface="Arial"/>
                        </a:rPr>
                        <a:t>Muestra elegible, evidencia incompleta</a:t>
                      </a:r>
                    </a:p>
                  </a:txBody>
                  <a:tcPr marL="91440" marR="91440" marT="45720" marB="45720">
                    <a:solidFill>
                      <a:srgbClr val="FFFFFF"/>
                    </a:solidFill>
                  </a:tcPr>
                </a:tc>
                <a:tc>
                  <a:txBody>
                    <a:bodyPr/>
                    <a:lstStyle/>
                    <a:p>
                      <a:r>
                        <a:rPr sz="1725" b="0">
                          <a:solidFill>
                            <a:srgbClr val="142D3B"/>
                          </a:solidFill>
                          <a:latin typeface="Arial"/>
                          <a:ea typeface="Arial"/>
                          <a:cs typeface="Arial"/>
                        </a:rPr>
                        <a:t>586</a:t>
                      </a:r>
                    </a:p>
                  </a:txBody>
                  <a:tcPr marL="91440" marR="91440" marT="45720" marB="45720">
                    <a:solidFill>
                      <a:srgbClr val="FFFFFF"/>
                    </a:solidFill>
                  </a:tcPr>
                </a:tc>
              </a:tr>
              <a:tr h="447675">
                <a:tc>
                  <a:txBody>
                    <a:bodyPr/>
                    <a:lstStyle/>
                    <a:p>
                      <a:r>
                        <a:rPr sz="1725" b="0">
                          <a:solidFill>
                            <a:srgbClr val="142D3B"/>
                          </a:solidFill>
                          <a:latin typeface="Arial"/>
                          <a:ea typeface="Arial"/>
                          <a:cs typeface="Arial"/>
                        </a:rPr>
                        <a:t>insufficient_evidence</a:t>
                      </a:r>
                    </a:p>
                  </a:txBody>
                  <a:tcPr marL="91440" marR="91440" marT="45720" marB="45720">
                    <a:solidFill>
                      <a:srgbClr val="F4F7F8"/>
                    </a:solidFill>
                  </a:tcPr>
                </a:tc>
                <a:tc>
                  <a:txBody>
                    <a:bodyPr/>
                    <a:lstStyle/>
                    <a:p>
                      <a:r>
                        <a:rPr sz="1725" b="0">
                          <a:solidFill>
                            <a:srgbClr val="142D3B"/>
                          </a:solidFill>
                          <a:latin typeface="Arial"/>
                          <a:ea typeface="Arial"/>
                          <a:cs typeface="Arial"/>
                        </a:rPr>
                        <a:t>Muestra insuficiente</a:t>
                      </a:r>
                    </a:p>
                  </a:txBody>
                  <a:tcPr marL="91440" marR="91440" marT="45720" marB="45720">
                    <a:solidFill>
                      <a:srgbClr val="F4F7F8"/>
                    </a:solidFill>
                  </a:tcPr>
                </a:tc>
                <a:tc>
                  <a:txBody>
                    <a:bodyPr/>
                    <a:lstStyle/>
                    <a:p>
                      <a:r>
                        <a:rPr sz="1725" b="0">
                          <a:solidFill>
                            <a:srgbClr val="142D3B"/>
                          </a:solidFill>
                          <a:latin typeface="Arial"/>
                          <a:ea typeface="Arial"/>
                          <a:cs typeface="Arial"/>
                        </a:rPr>
                        <a:t>864</a:t>
                      </a:r>
                    </a:p>
                  </a:txBody>
                  <a:tcPr marL="91440" marR="91440" marT="45720" marB="45720">
                    <a:solidFill>
                      <a:srgbClr val="F4F7F8"/>
                    </a:solidFill>
                  </a:tcPr>
                </a:tc>
              </a:tr>
            </a:tbl>
          </a:graphicData>
        </a:graphic>
      </p:graphicFrame>
      <p:sp>
        <p:nvSpPr>
          <p:cNvPr id="5" name="">
            <a:extLst xmlns:a="http://schemas.openxmlformats.org/drawingml/2006/main">
              <a:ext uri="{FF2B5EF4-FFF2-40B4-BE49-F238E27FC236}">
                <a16:creationId xmlns:a16="http://schemas.microsoft.com/office/drawing/2014/main" id="{39E7A8DD-273F-4759-84F5-E06EDA2744CA}"/>
              </a:ext>
            </a:extLst>
          </p:cNvPr>
          <p:cNvSpPr>
            <a:spLocks xmlns:a="http://schemas.openxmlformats.org/drawingml/2006/main" noGrp="1"/>
          </p:cNvSpPr>
          <p:nvPr/>
        </p:nvSpPr>
        <p:spPr>
          <a:xfrm xmlns:a="http://schemas.openxmlformats.org/drawingml/2006/main">
            <a:off x="685800" y="56578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526471"/>
                </a:solidFill>
                <a:latin typeface="Arial"/>
                <a:ea typeface="Arial"/>
                <a:cs typeface="Arial"/>
              </a:defRPr>
            </a:pPr>
            <a:r>
              <a:rPr sz="1575" b="0">
                <a:solidFill>
                  <a:srgbClr val="526471"/>
                </a:solidFill>
                <a:latin typeface="Arial"/>
                <a:ea typeface="Arial"/>
                <a:cs typeface="Arial"/>
              </a:rPr>
              <a:t>La matriz contiene 1.497 segmentos. Las etiquetas no estiman rentabilidad.</a:t>
            </a:r>
          </a:p>
        </p:txBody>
      </p:sp>
    </p:spTree>
    <p:extLst>
      <p:ext uri="{BB962C8B-B14F-4D97-AF65-F5344CB8AC3E}">
        <p14:creationId xmlns:p14="http://schemas.microsoft.com/office/powerpoint/2010/main" val="114700365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F808B2F-774B-4CC2-9B41-4168C87A608B}"/>
              </a:ext>
            </a:extLst>
          </p:cNvPr>
          <p:cNvSpPr>
            <a:spLocks xmlns:a="http://schemas.openxmlformats.org/drawingml/2006/main" noGrp="1"/>
          </p:cNvSpPr>
          <p:nvPr/>
        </p:nvSpPr>
        <p:spPr>
          <a:xfrm xmlns:a="http://schemas.openxmlformats.org/drawingml/2006/main">
            <a:off x="609600" y="4476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142D3B"/>
                </a:solidFill>
                <a:latin typeface="Arial"/>
                <a:ea typeface="Arial"/>
                <a:cs typeface="Arial"/>
              </a:defRPr>
            </a:pPr>
            <a:r>
              <a:rPr sz="3225" b="1">
                <a:solidFill>
                  <a:srgbClr val="142D3B"/>
                </a:solidFill>
                <a:latin typeface="Arial"/>
                <a:ea typeface="Arial"/>
                <a:cs typeface="Arial"/>
              </a:rPr>
              <a:t>28 candidatos en cinco ciudades</a:t>
            </a:r>
          </a:p>
        </p:txBody>
      </p:sp>
      <p:sp>
        <p:nvSpPr>
          <p:cNvPr id="2" name="">
            <a:extLst xmlns:a="http://schemas.openxmlformats.org/drawingml/2006/main">
              <a:ext uri="{FF2B5EF4-FFF2-40B4-BE49-F238E27FC236}">
                <a16:creationId xmlns:a16="http://schemas.microsoft.com/office/drawing/2014/main" id="{870D1F74-B5A0-4BA9-B8A1-D9753FA3DD91}"/>
              </a:ext>
            </a:extLst>
          </p:cNvPr>
          <p:cNvSpPr>
            <a:spLocks xmlns:a="http://schemas.openxmlformats.org/drawingml/2006/main" noGrp="1"/>
          </p:cNvSpPr>
          <p:nvPr/>
        </p:nvSpPr>
        <p:spPr>
          <a:xfrm xmlns:a="http://schemas.openxmlformats.org/drawingml/2006/main">
            <a:off x="11049000" y="63246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471"/>
                </a:solidFill>
                <a:latin typeface="Arial"/>
                <a:ea typeface="Arial"/>
                <a:cs typeface="Arial"/>
              </a:defRPr>
            </a:pPr>
            <a:r>
              <a:rPr sz="1350" b="0">
                <a:solidFill>
                  <a:srgbClr val="526471"/>
                </a:solidFill>
                <a:latin typeface="Arial"/>
                <a:ea typeface="Arial"/>
                <a:cs typeface="Arial"/>
              </a:rPr>
              <a:t>10</a:t>
            </a:r>
          </a:p>
        </p:txBody>
      </p:sp>
      <p:graphicFrame>
        <p:nvGraphicFramePr>
          <p:cNvPr id="7" name="Chart"/>
          <p:cNvGraphicFramePr/>
          <p:nvPr/>
        </p:nvGraphicFramePr>
        <p:xfrm>
          <a:off xmlns:a="http://schemas.openxmlformats.org/drawingml/2006/main" x="685800" y="1704975"/>
          <a:ext xmlns:a="http://schemas.openxmlformats.org/drawingml/2006/main" cx="10820400" cy="3571875"/>
        </p:xfrm>
        <a:graphic xmlns:a="http://schemas.openxmlformats.org/drawingml/2006/main">
          <a:graphicData uri="http://schemas.openxmlformats.org/drawingml/2006/chart">
            <c:chart xmlns:r="http://schemas.openxmlformats.org/officeDocument/2006/relationships" xmlns:c="http://schemas.openxmlformats.org/drawingml/2006/chart" r:id="R047bffa2ffd54d73"/>
          </a:graphicData>
        </a:graphic>
      </p:graphicFrame>
      <p:sp>
        <p:nvSpPr>
          <p:cNvPr id="4" name="">
            <a:extLst xmlns:a="http://schemas.openxmlformats.org/drawingml/2006/main">
              <a:ext uri="{FF2B5EF4-FFF2-40B4-BE49-F238E27FC236}">
                <a16:creationId xmlns:a16="http://schemas.microsoft.com/office/drawing/2014/main" id="{A92D5215-332D-447D-9D5F-10D448E9A3D9}"/>
              </a:ext>
            </a:extLst>
          </p:cNvPr>
          <p:cNvSpPr>
            <a:spLocks xmlns:a="http://schemas.openxmlformats.org/drawingml/2006/main" noGrp="1"/>
          </p:cNvSpPr>
          <p:nvPr/>
        </p:nvSpPr>
        <p:spPr>
          <a:xfrm xmlns:a="http://schemas.openxmlformats.org/drawingml/2006/main">
            <a:off x="685800" y="56578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526471"/>
                </a:solidFill>
                <a:latin typeface="Arial"/>
                <a:ea typeface="Arial"/>
                <a:cs typeface="Arial"/>
              </a:defRPr>
            </a:pPr>
            <a:r>
              <a:rPr sz="1575" b="0">
                <a:solidFill>
                  <a:srgbClr val="526471"/>
                </a:solidFill>
                <a:latin typeface="Arial"/>
                <a:ea typeface="Arial"/>
                <a:cs typeface="Arial"/>
              </a:rPr>
              <a:t>Nueva York y Sídney reúnen el 89,3 %. Londres no supera simultáneamente todas las reglas.</a:t>
            </a:r>
          </a:p>
        </p:txBody>
      </p:sp>
    </p:spTree>
    <p:extLst>
      <p:ext uri="{BB962C8B-B14F-4D97-AF65-F5344CB8AC3E}">
        <p14:creationId xmlns:p14="http://schemas.microsoft.com/office/powerpoint/2010/main" val="200198536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E3E1C75-22EA-4937-B7F2-92F50AD973EE}"/>
              </a:ext>
            </a:extLst>
          </p:cNvPr>
          <p:cNvSpPr>
            <a:spLocks xmlns:a="http://schemas.openxmlformats.org/drawingml/2006/main" noGrp="1"/>
          </p:cNvSpPr>
          <p:nvPr/>
        </p:nvSpPr>
        <p:spPr>
          <a:xfrm xmlns:a="http://schemas.openxmlformats.org/drawingml/2006/main">
            <a:off x="609600" y="4476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142D3B"/>
                </a:solidFill>
                <a:latin typeface="Arial"/>
                <a:ea typeface="Arial"/>
                <a:cs typeface="Arial"/>
              </a:defRPr>
            </a:pPr>
            <a:r>
              <a:rPr sz="3225" b="1">
                <a:solidFill>
                  <a:srgbClr val="142D3B"/>
                </a:solidFill>
                <a:latin typeface="Arial"/>
                <a:ea typeface="Arial"/>
                <a:cs typeface="Arial"/>
              </a:rPr>
              <a:t>Primer candidato por ciudad</a:t>
            </a:r>
          </a:p>
        </p:txBody>
      </p:sp>
      <p:sp>
        <p:nvSpPr>
          <p:cNvPr id="2" name="">
            <a:extLst xmlns:a="http://schemas.openxmlformats.org/drawingml/2006/main">
              <a:ext uri="{FF2B5EF4-FFF2-40B4-BE49-F238E27FC236}">
                <a16:creationId xmlns:a16="http://schemas.microsoft.com/office/drawing/2014/main" id="{77DBA9C5-935D-4F92-8A72-AC23BD554838}"/>
              </a:ext>
            </a:extLst>
          </p:cNvPr>
          <p:cNvSpPr>
            <a:spLocks xmlns:a="http://schemas.openxmlformats.org/drawingml/2006/main" noGrp="1"/>
          </p:cNvSpPr>
          <p:nvPr/>
        </p:nvSpPr>
        <p:spPr>
          <a:xfrm xmlns:a="http://schemas.openxmlformats.org/drawingml/2006/main">
            <a:off x="11049000" y="63246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471"/>
                </a:solidFill>
                <a:latin typeface="Arial"/>
                <a:ea typeface="Arial"/>
                <a:cs typeface="Arial"/>
              </a:defRPr>
            </a:pPr>
            <a:r>
              <a:rPr sz="1350" b="0">
                <a:solidFill>
                  <a:srgbClr val="526471"/>
                </a:solidFill>
                <a:latin typeface="Arial"/>
                <a:ea typeface="Arial"/>
                <a:cs typeface="Arial"/>
              </a:rPr>
              <a:t>11</a:t>
            </a:r>
          </a:p>
        </p:txBody>
      </p:sp>
      <p:graphicFrame>
        <p:nvGraphicFramePr>
          <p:cNvPr id="7" name=""/>
          <p:cNvGraphicFramePr/>
          <p:nvPr/>
        </p:nvGraphicFramePr>
        <p:xfrm>
          <a:off xmlns:a="http://schemas.openxmlformats.org/drawingml/2006/main" x="685800" y="1476375"/>
          <a:ext xmlns:a="http://schemas.openxmlformats.org/drawingml/2006/main" cx="10820400" cy="3857625"/>
        </p:xfrm>
        <a:graphic xmlns:a="http://schemas.openxmlformats.org/drawingml/2006/main">
          <a:graphicData uri="http://schemas.openxmlformats.org/drawingml/2006/table">
            <a:tbl>
              <a:tblPr/>
              <a:tblGrid>
                <a:gridCol w="3381375"/>
                <a:gridCol w="2524125"/>
                <a:gridCol w="904875"/>
                <a:gridCol w="1762125"/>
                <a:gridCol w="2247900"/>
              </a:tblGrid>
              <a:tr h="642938">
                <a:tc>
                  <a:txBody>
                    <a:bodyPr/>
                    <a:lstStyle/>
                    <a:p>
                      <a:r>
                        <a:rPr sz="1725" b="1">
                          <a:solidFill>
                            <a:srgbClr val="FFFFFF"/>
                          </a:solidFill>
                          <a:latin typeface="Arial"/>
                          <a:ea typeface="Arial"/>
                          <a:cs typeface="Arial"/>
                        </a:rPr>
                        <a:t>Ciudad y barrio</a:t>
                      </a:r>
                    </a:p>
                  </a:txBody>
                  <a:tcPr marL="91440" marR="91440" marT="45720" marB="45720">
                    <a:solidFill>
                      <a:srgbClr val="142D3B"/>
                    </a:solidFill>
                  </a:tcPr>
                </a:tc>
                <a:tc>
                  <a:txBody>
                    <a:bodyPr/>
                    <a:lstStyle/>
                    <a:p>
                      <a:r>
                        <a:rPr sz="1725" b="1">
                          <a:solidFill>
                            <a:srgbClr val="FFFFFF"/>
                          </a:solidFill>
                          <a:latin typeface="Arial"/>
                          <a:ea typeface="Arial"/>
                          <a:cs typeface="Arial"/>
                        </a:rPr>
                        <a:t>Tipología</a:t>
                      </a:r>
                    </a:p>
                  </a:txBody>
                  <a:tcPr marL="91440" marR="91440" marT="45720" marB="45720">
                    <a:solidFill>
                      <a:srgbClr val="142D3B"/>
                    </a:solidFill>
                  </a:tcPr>
                </a:tc>
                <a:tc>
                  <a:txBody>
                    <a:bodyPr/>
                    <a:lstStyle/>
                    <a:p>
                      <a:r>
                        <a:rPr sz="1725" b="1">
                          <a:solidFill>
                            <a:srgbClr val="FFFFFF"/>
                          </a:solidFill>
                          <a:latin typeface="Arial"/>
                          <a:ea typeface="Arial"/>
                          <a:cs typeface="Arial"/>
                        </a:rPr>
                        <a:t>N</a:t>
                      </a:r>
                    </a:p>
                  </a:txBody>
                  <a:tcPr marL="91440" marR="91440" marT="45720" marB="45720">
                    <a:solidFill>
                      <a:srgbClr val="142D3B"/>
                    </a:solidFill>
                  </a:tcPr>
                </a:tc>
                <a:tc>
                  <a:txBody>
                    <a:bodyPr/>
                    <a:lstStyle/>
                    <a:p>
                      <a:r>
                        <a:rPr sz="1725" b="1">
                          <a:solidFill>
                            <a:srgbClr val="FFFFFF"/>
                          </a:solidFill>
                          <a:latin typeface="Arial"/>
                          <a:ea typeface="Arial"/>
                          <a:cs typeface="Arial"/>
                        </a:rPr>
                        <a:t>Superioridad</a:t>
                      </a:r>
                    </a:p>
                  </a:txBody>
                  <a:tcPr marL="91440" marR="91440" marT="45720" marB="45720">
                    <a:solidFill>
                      <a:srgbClr val="142D3B"/>
                    </a:solidFill>
                  </a:tcPr>
                </a:tc>
                <a:tc>
                  <a:txBody>
                    <a:bodyPr/>
                    <a:lstStyle/>
                    <a:p>
                      <a:r>
                        <a:rPr sz="1725" b="1">
                          <a:solidFill>
                            <a:srgbClr val="FFFFFF"/>
                          </a:solidFill>
                          <a:latin typeface="Arial"/>
                          <a:ea typeface="Arial"/>
                          <a:cs typeface="Arial"/>
                        </a:rPr>
                        <a:t>IC 95 %</a:t>
                      </a:r>
                    </a:p>
                  </a:txBody>
                  <a:tcPr marL="91440" marR="91440" marT="45720" marB="45720">
                    <a:solidFill>
                      <a:srgbClr val="142D3B"/>
                    </a:solidFill>
                  </a:tcPr>
                </a:tc>
              </a:tr>
              <a:tr h="642938">
                <a:tc>
                  <a:txBody>
                    <a:bodyPr/>
                    <a:lstStyle/>
                    <a:p>
                      <a:r>
                        <a:rPr sz="1725" b="0">
                          <a:solidFill>
                            <a:srgbClr val="142D3B"/>
                          </a:solidFill>
                          <a:latin typeface="Arial"/>
                          <a:ea typeface="Arial"/>
                          <a:cs typeface="Arial"/>
                        </a:rPr>
                        <a:t>Madrid</a:t>
                      </a:r>
                    </a:p>
                    <a:p>
                      <a:r>
                        <a:rPr sz="1725" b="0">
                          <a:solidFill>
                            <a:srgbClr val="142D3B"/>
                          </a:solidFill>
                          <a:latin typeface="Arial"/>
                          <a:ea typeface="Arial"/>
                          <a:cs typeface="Arial"/>
                        </a:rPr>
                        <a:t>Justicia</a:t>
                      </a:r>
                    </a:p>
                  </a:txBody>
                  <a:tcPr marL="91440" marR="91440" marT="45720" marB="45720">
                    <a:solidFill>
                      <a:srgbClr val="FFFFFF"/>
                    </a:solidFill>
                  </a:tcPr>
                </a:tc>
                <a:tc>
                  <a:txBody>
                    <a:bodyPr/>
                    <a:lstStyle/>
                    <a:p>
                      <a:r>
                        <a:rPr sz="1725" b="0">
                          <a:solidFill>
                            <a:srgbClr val="142D3B"/>
                          </a:solidFill>
                          <a:latin typeface="Arial"/>
                          <a:ea typeface="Arial"/>
                          <a:cs typeface="Arial"/>
                        </a:rPr>
                        <a:t>Habitación privada</a:t>
                      </a:r>
                    </a:p>
                  </a:txBody>
                  <a:tcPr marL="91440" marR="91440" marT="45720" marB="45720">
                    <a:solidFill>
                      <a:srgbClr val="FFFFFF"/>
                    </a:solidFill>
                  </a:tcPr>
                </a:tc>
                <a:tc>
                  <a:txBody>
                    <a:bodyPr/>
                    <a:lstStyle/>
                    <a:p>
                      <a:r>
                        <a:rPr sz="1725" b="0">
                          <a:solidFill>
                            <a:srgbClr val="142D3B"/>
                          </a:solidFill>
                          <a:latin typeface="Arial"/>
                          <a:ea typeface="Arial"/>
                          <a:cs typeface="Arial"/>
                        </a:rPr>
                        <a:t>281</a:t>
                      </a:r>
                    </a:p>
                  </a:txBody>
                  <a:tcPr marL="91440" marR="91440" marT="45720" marB="45720">
                    <a:solidFill>
                      <a:srgbClr val="FFFFFF"/>
                    </a:solidFill>
                  </a:tcPr>
                </a:tc>
                <a:tc>
                  <a:txBody>
                    <a:bodyPr/>
                    <a:lstStyle/>
                    <a:p>
                      <a:r>
                        <a:rPr sz="1725" b="0">
                          <a:solidFill>
                            <a:srgbClr val="142D3B"/>
                          </a:solidFill>
                          <a:latin typeface="Arial"/>
                          <a:ea typeface="Arial"/>
                          <a:cs typeface="Arial"/>
                        </a:rPr>
                        <a:t>0,565</a:t>
                      </a:r>
                    </a:p>
                  </a:txBody>
                  <a:tcPr marL="91440" marR="91440" marT="45720" marB="45720">
                    <a:solidFill>
                      <a:srgbClr val="FFFFFF"/>
                    </a:solidFill>
                  </a:tcPr>
                </a:tc>
                <a:tc>
                  <a:txBody>
                    <a:bodyPr/>
                    <a:lstStyle/>
                    <a:p>
                      <a:r>
                        <a:rPr sz="1725" b="0">
                          <a:solidFill>
                            <a:srgbClr val="142D3B"/>
                          </a:solidFill>
                          <a:latin typeface="Arial"/>
                          <a:ea typeface="Arial"/>
                          <a:cs typeface="Arial"/>
                        </a:rPr>
                        <a:t>0,524–0,613</a:t>
                      </a:r>
                    </a:p>
                  </a:txBody>
                  <a:tcPr marL="91440" marR="91440" marT="45720" marB="45720">
                    <a:solidFill>
                      <a:srgbClr val="FFFFFF"/>
                    </a:solidFill>
                  </a:tcPr>
                </a:tc>
              </a:tr>
              <a:tr h="642938">
                <a:tc>
                  <a:txBody>
                    <a:bodyPr/>
                    <a:lstStyle/>
                    <a:p>
                      <a:r>
                        <a:rPr sz="1725" b="0">
                          <a:solidFill>
                            <a:srgbClr val="142D3B"/>
                          </a:solidFill>
                          <a:latin typeface="Arial"/>
                          <a:ea typeface="Arial"/>
                          <a:cs typeface="Arial"/>
                        </a:rPr>
                        <a:t>Milán</a:t>
                      </a:r>
                    </a:p>
                    <a:p>
                      <a:r>
                        <a:rPr sz="1725" b="0">
                          <a:solidFill>
                            <a:srgbClr val="142D3B"/>
                          </a:solidFill>
                          <a:latin typeface="Arial"/>
                          <a:ea typeface="Arial"/>
                          <a:cs typeface="Arial"/>
                        </a:rPr>
                        <a:t>CENTRALE</a:t>
                      </a:r>
                    </a:p>
                  </a:txBody>
                  <a:tcPr marL="91440" marR="91440" marT="45720" marB="45720">
                    <a:solidFill>
                      <a:srgbClr val="F4F7F8"/>
                    </a:solidFill>
                  </a:tcPr>
                </a:tc>
                <a:tc>
                  <a:txBody>
                    <a:bodyPr/>
                    <a:lstStyle/>
                    <a:p>
                      <a:r>
                        <a:rPr sz="1725" b="0">
                          <a:solidFill>
                            <a:srgbClr val="142D3B"/>
                          </a:solidFill>
                          <a:latin typeface="Arial"/>
                          <a:ea typeface="Arial"/>
                          <a:cs typeface="Arial"/>
                        </a:rPr>
                        <a:t>Alojamiento completo</a:t>
                      </a:r>
                    </a:p>
                  </a:txBody>
                  <a:tcPr marL="91440" marR="91440" marT="45720" marB="45720">
                    <a:solidFill>
                      <a:srgbClr val="F4F7F8"/>
                    </a:solidFill>
                  </a:tcPr>
                </a:tc>
                <a:tc>
                  <a:txBody>
                    <a:bodyPr/>
                    <a:lstStyle/>
                    <a:p>
                      <a:r>
                        <a:rPr sz="1725" b="0">
                          <a:solidFill>
                            <a:srgbClr val="142D3B"/>
                          </a:solidFill>
                          <a:latin typeface="Arial"/>
                          <a:ea typeface="Arial"/>
                          <a:cs typeface="Arial"/>
                        </a:rPr>
                        <a:t>495</a:t>
                      </a:r>
                    </a:p>
                  </a:txBody>
                  <a:tcPr marL="91440" marR="91440" marT="45720" marB="45720">
                    <a:solidFill>
                      <a:srgbClr val="F4F7F8"/>
                    </a:solidFill>
                  </a:tcPr>
                </a:tc>
                <a:tc>
                  <a:txBody>
                    <a:bodyPr/>
                    <a:lstStyle/>
                    <a:p>
                      <a:r>
                        <a:rPr sz="1725" b="0">
                          <a:solidFill>
                            <a:srgbClr val="142D3B"/>
                          </a:solidFill>
                          <a:latin typeface="Arial"/>
                          <a:ea typeface="Arial"/>
                          <a:cs typeface="Arial"/>
                        </a:rPr>
                        <a:t>0,590</a:t>
                      </a:r>
                    </a:p>
                  </a:txBody>
                  <a:tcPr marL="91440" marR="91440" marT="45720" marB="45720">
                    <a:solidFill>
                      <a:srgbClr val="F4F7F8"/>
                    </a:solidFill>
                  </a:tcPr>
                </a:tc>
                <a:tc>
                  <a:txBody>
                    <a:bodyPr/>
                    <a:lstStyle/>
                    <a:p>
                      <a:r>
                        <a:rPr sz="1725" b="0">
                          <a:solidFill>
                            <a:srgbClr val="142D3B"/>
                          </a:solidFill>
                          <a:latin typeface="Arial"/>
                          <a:ea typeface="Arial"/>
                          <a:cs typeface="Arial"/>
                        </a:rPr>
                        <a:t>0,558–0,622</a:t>
                      </a:r>
                    </a:p>
                  </a:txBody>
                  <a:tcPr marL="91440" marR="91440" marT="45720" marB="45720">
                    <a:solidFill>
                      <a:srgbClr val="F4F7F8"/>
                    </a:solidFill>
                  </a:tcPr>
                </a:tc>
              </a:tr>
              <a:tr h="642938">
                <a:tc>
                  <a:txBody>
                    <a:bodyPr/>
                    <a:lstStyle/>
                    <a:p>
                      <a:r>
                        <a:rPr sz="1725" b="0">
                          <a:solidFill>
                            <a:srgbClr val="142D3B"/>
                          </a:solidFill>
                          <a:latin typeface="Arial"/>
                          <a:ea typeface="Arial"/>
                          <a:cs typeface="Arial"/>
                        </a:rPr>
                        <a:t>Nueva York</a:t>
                      </a:r>
                    </a:p>
                    <a:p>
                      <a:r>
                        <a:rPr sz="1725" b="0">
                          <a:solidFill>
                            <a:srgbClr val="142D3B"/>
                          </a:solidFill>
                          <a:latin typeface="Arial"/>
                          <a:ea typeface="Arial"/>
                          <a:cs typeface="Arial"/>
                        </a:rPr>
                        <a:t>Bedford-Stuyvesant</a:t>
                      </a:r>
                    </a:p>
                  </a:txBody>
                  <a:tcPr marL="91440" marR="91440" marT="45720" marB="45720">
                    <a:solidFill>
                      <a:srgbClr val="FFFFFF"/>
                    </a:solidFill>
                  </a:tcPr>
                </a:tc>
                <a:tc>
                  <a:txBody>
                    <a:bodyPr/>
                    <a:lstStyle/>
                    <a:p>
                      <a:r>
                        <a:rPr sz="1725" b="0">
                          <a:solidFill>
                            <a:srgbClr val="142D3B"/>
                          </a:solidFill>
                          <a:latin typeface="Arial"/>
                          <a:ea typeface="Arial"/>
                          <a:cs typeface="Arial"/>
                        </a:rPr>
                        <a:t>Alojamiento completo</a:t>
                      </a:r>
                    </a:p>
                  </a:txBody>
                  <a:tcPr marL="91440" marR="91440" marT="45720" marB="45720">
                    <a:solidFill>
                      <a:srgbClr val="FFFFFF"/>
                    </a:solidFill>
                  </a:tcPr>
                </a:tc>
                <a:tc>
                  <a:txBody>
                    <a:bodyPr/>
                    <a:lstStyle/>
                    <a:p>
                      <a:r>
                        <a:rPr sz="1725" b="0">
                          <a:solidFill>
                            <a:srgbClr val="142D3B"/>
                          </a:solidFill>
                          <a:latin typeface="Arial"/>
                          <a:ea typeface="Arial"/>
                          <a:cs typeface="Arial"/>
                        </a:rPr>
                        <a:t>1.591</a:t>
                      </a:r>
                    </a:p>
                  </a:txBody>
                  <a:tcPr marL="91440" marR="91440" marT="45720" marB="45720">
                    <a:solidFill>
                      <a:srgbClr val="FFFFFF"/>
                    </a:solidFill>
                  </a:tcPr>
                </a:tc>
                <a:tc>
                  <a:txBody>
                    <a:bodyPr/>
                    <a:lstStyle/>
                    <a:p>
                      <a:r>
                        <a:rPr sz="1725" b="0">
                          <a:solidFill>
                            <a:srgbClr val="142D3B"/>
                          </a:solidFill>
                          <a:latin typeface="Arial"/>
                          <a:ea typeface="Arial"/>
                          <a:cs typeface="Arial"/>
                        </a:rPr>
                        <a:t>0,609</a:t>
                      </a:r>
                    </a:p>
                  </a:txBody>
                  <a:tcPr marL="91440" marR="91440" marT="45720" marB="45720">
                    <a:solidFill>
                      <a:srgbClr val="FFFFFF"/>
                    </a:solidFill>
                  </a:tcPr>
                </a:tc>
                <a:tc>
                  <a:txBody>
                    <a:bodyPr/>
                    <a:lstStyle/>
                    <a:p>
                      <a:r>
                        <a:rPr sz="1725" b="0">
                          <a:solidFill>
                            <a:srgbClr val="142D3B"/>
                          </a:solidFill>
                          <a:latin typeface="Arial"/>
                          <a:ea typeface="Arial"/>
                          <a:cs typeface="Arial"/>
                        </a:rPr>
                        <a:t>0,593–0,622</a:t>
                      </a:r>
                    </a:p>
                  </a:txBody>
                  <a:tcPr marL="91440" marR="91440" marT="45720" marB="45720">
                    <a:solidFill>
                      <a:srgbClr val="FFFFFF"/>
                    </a:solidFill>
                  </a:tcPr>
                </a:tc>
              </a:tr>
              <a:tr h="642938">
                <a:tc>
                  <a:txBody>
                    <a:bodyPr/>
                    <a:lstStyle/>
                    <a:p>
                      <a:r>
                        <a:rPr sz="1725" b="0">
                          <a:solidFill>
                            <a:srgbClr val="142D3B"/>
                          </a:solidFill>
                          <a:latin typeface="Arial"/>
                          <a:ea typeface="Arial"/>
                          <a:cs typeface="Arial"/>
                        </a:rPr>
                        <a:t>Sídney</a:t>
                      </a:r>
                    </a:p>
                    <a:p>
                      <a:r>
                        <a:rPr sz="1725" b="0">
                          <a:solidFill>
                            <a:srgbClr val="142D3B"/>
                          </a:solidFill>
                          <a:latin typeface="Arial"/>
                          <a:ea typeface="Arial"/>
                          <a:cs typeface="Arial"/>
                        </a:rPr>
                        <a:t>Leichhardt</a:t>
                      </a:r>
                    </a:p>
                  </a:txBody>
                  <a:tcPr marL="91440" marR="91440" marT="45720" marB="45720">
                    <a:solidFill>
                      <a:srgbClr val="F4F7F8"/>
                    </a:solidFill>
                  </a:tcPr>
                </a:tc>
                <a:tc>
                  <a:txBody>
                    <a:bodyPr/>
                    <a:lstStyle/>
                    <a:p>
                      <a:r>
                        <a:rPr sz="1725" b="0">
                          <a:solidFill>
                            <a:srgbClr val="142D3B"/>
                          </a:solidFill>
                          <a:latin typeface="Arial"/>
                          <a:ea typeface="Arial"/>
                          <a:cs typeface="Arial"/>
                        </a:rPr>
                        <a:t>Habitación privada</a:t>
                      </a:r>
                    </a:p>
                  </a:txBody>
                  <a:tcPr marL="91440" marR="91440" marT="45720" marB="45720">
                    <a:solidFill>
                      <a:srgbClr val="F4F7F8"/>
                    </a:solidFill>
                  </a:tcPr>
                </a:tc>
                <a:tc>
                  <a:txBody>
                    <a:bodyPr/>
                    <a:lstStyle/>
                    <a:p>
                      <a:r>
                        <a:rPr sz="1725" b="0">
                          <a:solidFill>
                            <a:srgbClr val="142D3B"/>
                          </a:solidFill>
                          <a:latin typeface="Arial"/>
                          <a:ea typeface="Arial"/>
                          <a:cs typeface="Arial"/>
                        </a:rPr>
                        <a:t>290</a:t>
                      </a:r>
                    </a:p>
                  </a:txBody>
                  <a:tcPr marL="91440" marR="91440" marT="45720" marB="45720">
                    <a:solidFill>
                      <a:srgbClr val="F4F7F8"/>
                    </a:solidFill>
                  </a:tcPr>
                </a:tc>
                <a:tc>
                  <a:txBody>
                    <a:bodyPr/>
                    <a:lstStyle/>
                    <a:p>
                      <a:r>
                        <a:rPr sz="1725" b="0">
                          <a:solidFill>
                            <a:srgbClr val="142D3B"/>
                          </a:solidFill>
                          <a:latin typeface="Arial"/>
                          <a:ea typeface="Arial"/>
                          <a:cs typeface="Arial"/>
                        </a:rPr>
                        <a:t>0,589</a:t>
                      </a:r>
                    </a:p>
                  </a:txBody>
                  <a:tcPr marL="91440" marR="91440" marT="45720" marB="45720">
                    <a:solidFill>
                      <a:srgbClr val="F4F7F8"/>
                    </a:solidFill>
                  </a:tcPr>
                </a:tc>
                <a:tc>
                  <a:txBody>
                    <a:bodyPr/>
                    <a:lstStyle/>
                    <a:p>
                      <a:r>
                        <a:rPr sz="1725" b="0">
                          <a:solidFill>
                            <a:srgbClr val="142D3B"/>
                          </a:solidFill>
                          <a:latin typeface="Arial"/>
                          <a:ea typeface="Arial"/>
                          <a:cs typeface="Arial"/>
                        </a:rPr>
                        <a:t>0,554–0,626</a:t>
                      </a:r>
                    </a:p>
                  </a:txBody>
                  <a:tcPr marL="91440" marR="91440" marT="45720" marB="45720">
                    <a:solidFill>
                      <a:srgbClr val="F4F7F8"/>
                    </a:solidFill>
                  </a:tcPr>
                </a:tc>
              </a:tr>
              <a:tr h="642938">
                <a:tc>
                  <a:txBody>
                    <a:bodyPr/>
                    <a:lstStyle/>
                    <a:p>
                      <a:r>
                        <a:rPr sz="1725" b="0">
                          <a:solidFill>
                            <a:srgbClr val="142D3B"/>
                          </a:solidFill>
                          <a:latin typeface="Arial"/>
                          <a:ea typeface="Arial"/>
                          <a:cs typeface="Arial"/>
                        </a:rPr>
                        <a:t>Tokio</a:t>
                      </a:r>
                    </a:p>
                    <a:p>
                      <a:r>
                        <a:rPr sz="1725" b="0">
                          <a:solidFill>
                            <a:srgbClr val="142D3B"/>
                          </a:solidFill>
                          <a:latin typeface="Arial"/>
                          <a:ea typeface="Arial"/>
                          <a:cs typeface="Arial"/>
                        </a:rPr>
                        <a:t>Nakano Ku</a:t>
                      </a:r>
                    </a:p>
                  </a:txBody>
                  <a:tcPr marL="91440" marR="91440" marT="45720" marB="45720">
                    <a:solidFill>
                      <a:srgbClr val="FFFFFF"/>
                    </a:solidFill>
                  </a:tcPr>
                </a:tc>
                <a:tc>
                  <a:txBody>
                    <a:bodyPr/>
                    <a:lstStyle/>
                    <a:p>
                      <a:r>
                        <a:rPr sz="1725" b="0">
                          <a:solidFill>
                            <a:srgbClr val="142D3B"/>
                          </a:solidFill>
                          <a:latin typeface="Arial"/>
                          <a:ea typeface="Arial"/>
                          <a:cs typeface="Arial"/>
                        </a:rPr>
                        <a:t>Habitación privada</a:t>
                      </a:r>
                    </a:p>
                  </a:txBody>
                  <a:tcPr marL="91440" marR="91440" marT="45720" marB="45720">
                    <a:solidFill>
                      <a:srgbClr val="FFFFFF"/>
                    </a:solidFill>
                  </a:tcPr>
                </a:tc>
                <a:tc>
                  <a:txBody>
                    <a:bodyPr/>
                    <a:lstStyle/>
                    <a:p>
                      <a:r>
                        <a:rPr sz="1725" b="0">
                          <a:solidFill>
                            <a:srgbClr val="142D3B"/>
                          </a:solidFill>
                          <a:latin typeface="Arial"/>
                          <a:ea typeface="Arial"/>
                          <a:cs typeface="Arial"/>
                        </a:rPr>
                        <a:t>55</a:t>
                      </a:r>
                    </a:p>
                  </a:txBody>
                  <a:tcPr marL="91440" marR="91440" marT="45720" marB="45720">
                    <a:solidFill>
                      <a:srgbClr val="FFFFFF"/>
                    </a:solidFill>
                  </a:tcPr>
                </a:tc>
                <a:tc>
                  <a:txBody>
                    <a:bodyPr/>
                    <a:lstStyle/>
                    <a:p>
                      <a:r>
                        <a:rPr sz="1725" b="0">
                          <a:solidFill>
                            <a:srgbClr val="142D3B"/>
                          </a:solidFill>
                          <a:latin typeface="Arial"/>
                          <a:ea typeface="Arial"/>
                          <a:cs typeface="Arial"/>
                        </a:rPr>
                        <a:t>0,704</a:t>
                      </a:r>
                    </a:p>
                  </a:txBody>
                  <a:tcPr marL="91440" marR="91440" marT="45720" marB="45720">
                    <a:solidFill>
                      <a:srgbClr val="FFFFFF"/>
                    </a:solidFill>
                  </a:tcPr>
                </a:tc>
                <a:tc>
                  <a:txBody>
                    <a:bodyPr/>
                    <a:lstStyle/>
                    <a:p>
                      <a:r>
                        <a:rPr sz="1725" b="0">
                          <a:solidFill>
                            <a:srgbClr val="142D3B"/>
                          </a:solidFill>
                          <a:latin typeface="Arial"/>
                          <a:ea typeface="Arial"/>
                          <a:cs typeface="Arial"/>
                        </a:rPr>
                        <a:t>0,629–0,777</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58D6D00-E17E-4349-B016-C9665B656317}"/>
              </a:ext>
            </a:extLst>
          </p:cNvPr>
          <p:cNvSpPr>
            <a:spLocks xmlns:a="http://schemas.openxmlformats.org/drawingml/2006/main" noGrp="1"/>
          </p:cNvSpPr>
          <p:nvPr/>
        </p:nvSpPr>
        <p:spPr>
          <a:xfrm xmlns:a="http://schemas.openxmlformats.org/drawingml/2006/main">
            <a:off x="685800" y="56578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526471"/>
                </a:solidFill>
                <a:latin typeface="Arial"/>
                <a:ea typeface="Arial"/>
                <a:cs typeface="Arial"/>
              </a:defRPr>
            </a:pPr>
            <a:r>
              <a:rPr sz="1575" b="0">
                <a:solidFill>
                  <a:srgbClr val="526471"/>
                </a:solidFill>
                <a:latin typeface="Arial"/>
                <a:ea typeface="Arial"/>
                <a:cs typeface="Arial"/>
              </a:rPr>
              <a:t>Rango por escala dentro de ciudad. Superioridad = comparación de medianas por anfitrión, con empates a medias.</a:t>
            </a:r>
          </a:p>
        </p:txBody>
      </p:sp>
    </p:spTree>
    <p:extLst>
      <p:ext uri="{BB962C8B-B14F-4D97-AF65-F5344CB8AC3E}">
        <p14:creationId xmlns:p14="http://schemas.microsoft.com/office/powerpoint/2010/main" val="69338578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4C31083-3FF1-4464-BFFF-4B76FB7F69CC}"/>
              </a:ext>
            </a:extLst>
          </p:cNvPr>
          <p:cNvSpPr>
            <a:spLocks xmlns:a="http://schemas.openxmlformats.org/drawingml/2006/main" noGrp="1"/>
          </p:cNvSpPr>
          <p:nvPr/>
        </p:nvSpPr>
        <p:spPr>
          <a:xfrm xmlns:a="http://schemas.openxmlformats.org/drawingml/2006/main">
            <a:off x="609600" y="4476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142D3B"/>
                </a:solidFill>
                <a:latin typeface="Arial"/>
                <a:ea typeface="Arial"/>
                <a:cs typeface="Arial"/>
              </a:defRPr>
            </a:pPr>
            <a:r>
              <a:rPr sz="3225" b="1">
                <a:solidFill>
                  <a:srgbClr val="142D3B"/>
                </a:solidFill>
                <a:latin typeface="Arial"/>
                <a:ea typeface="Arial"/>
                <a:cs typeface="Arial"/>
              </a:rPr>
              <a:t>Nueva lectura: brecha de cuota local</a:t>
            </a:r>
          </a:p>
        </p:txBody>
      </p:sp>
      <p:sp>
        <p:nvSpPr>
          <p:cNvPr id="2" name="">
            <a:extLst xmlns:a="http://schemas.openxmlformats.org/drawingml/2006/main">
              <a:ext uri="{FF2B5EF4-FFF2-40B4-BE49-F238E27FC236}">
                <a16:creationId xmlns:a16="http://schemas.microsoft.com/office/drawing/2014/main" id="{4831CA15-4B01-45AB-93DA-68478D5E2BB0}"/>
              </a:ext>
            </a:extLst>
          </p:cNvPr>
          <p:cNvSpPr>
            <a:spLocks xmlns:a="http://schemas.openxmlformats.org/drawingml/2006/main" noGrp="1"/>
          </p:cNvSpPr>
          <p:nvPr/>
        </p:nvSpPr>
        <p:spPr>
          <a:xfrm xmlns:a="http://schemas.openxmlformats.org/drawingml/2006/main">
            <a:off x="11049000" y="63246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471"/>
                </a:solidFill>
                <a:latin typeface="Arial"/>
                <a:ea typeface="Arial"/>
                <a:cs typeface="Arial"/>
              </a:defRPr>
            </a:pPr>
            <a:r>
              <a:rPr sz="1350" b="0">
                <a:solidFill>
                  <a:srgbClr val="526471"/>
                </a:solidFill>
                <a:latin typeface="Arial"/>
                <a:ea typeface="Arial"/>
                <a:cs typeface="Arial"/>
              </a:rPr>
              <a:t>12</a:t>
            </a:r>
          </a:p>
        </p:txBody>
      </p:sp>
      <p:graphicFrame>
        <p:nvGraphicFramePr>
          <p:cNvPr id="7" name="Chart"/>
          <p:cNvGraphicFramePr/>
          <p:nvPr/>
        </p:nvGraphicFramePr>
        <p:xfrm>
          <a:off xmlns:a="http://schemas.openxmlformats.org/drawingml/2006/main" x="685800" y="1704975"/>
          <a:ext xmlns:a="http://schemas.openxmlformats.org/drawingml/2006/main" cx="10820400" cy="3571875"/>
        </p:xfrm>
        <a:graphic xmlns:a="http://schemas.openxmlformats.org/drawingml/2006/main">
          <a:graphicData uri="http://schemas.openxmlformats.org/drawingml/2006/chart">
            <c:chart xmlns:r="http://schemas.openxmlformats.org/officeDocument/2006/relationships" xmlns:c="http://schemas.openxmlformats.org/drawingml/2006/chart" r:id="R03313563268941ea"/>
          </a:graphicData>
        </a:graphic>
      </p:graphicFrame>
      <p:sp>
        <p:nvSpPr>
          <p:cNvPr id="4" name="">
            <a:extLst xmlns:a="http://schemas.openxmlformats.org/drawingml/2006/main">
              <a:ext uri="{FF2B5EF4-FFF2-40B4-BE49-F238E27FC236}">
                <a16:creationId xmlns:a16="http://schemas.microsoft.com/office/drawing/2014/main" id="{0C4DCDB7-9127-4046-AD2B-D30F445072F3}"/>
              </a:ext>
            </a:extLst>
          </p:cNvPr>
          <p:cNvSpPr>
            <a:spLocks xmlns:a="http://schemas.openxmlformats.org/drawingml/2006/main" noGrp="1"/>
          </p:cNvSpPr>
          <p:nvPr/>
        </p:nvSpPr>
        <p:spPr>
          <a:xfrm xmlns:a="http://schemas.openxmlformats.org/drawingml/2006/main">
            <a:off x="685800" y="56578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526471"/>
                </a:solidFill>
                <a:latin typeface="Arial"/>
                <a:ea typeface="Arial"/>
                <a:cs typeface="Arial"/>
              </a:defRPr>
            </a:pPr>
            <a:r>
              <a:rPr sz="1575" b="0">
                <a:solidFill>
                  <a:srgbClr val="526471"/>
                </a:solidFill>
                <a:latin typeface="Arial"/>
                <a:ea typeface="Arial"/>
                <a:cs typeface="Arial"/>
              </a:rPr>
              <a:t>Puntos porcentuales = cuota de la tipología en la ciudad menos cuota en el barrio. CENTRALE cumple con una brecha de 2,4 puntos.</a:t>
            </a:r>
          </a:p>
        </p:txBody>
      </p:sp>
    </p:spTree>
    <p:extLst>
      <p:ext uri="{BB962C8B-B14F-4D97-AF65-F5344CB8AC3E}">
        <p14:creationId xmlns:p14="http://schemas.microsoft.com/office/powerpoint/2010/main" val="12991941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0CA896D-1555-4750-A031-D77AAA57E68E}"/>
              </a:ext>
            </a:extLst>
          </p:cNvPr>
          <p:cNvSpPr>
            <a:spLocks xmlns:a="http://schemas.openxmlformats.org/drawingml/2006/main" noGrp="1"/>
          </p:cNvSpPr>
          <p:nvPr/>
        </p:nvSpPr>
        <p:spPr>
          <a:xfrm xmlns:a="http://schemas.openxmlformats.org/drawingml/2006/main">
            <a:off x="609600" y="4476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142D3B"/>
                </a:solidFill>
                <a:latin typeface="Arial"/>
                <a:ea typeface="Arial"/>
                <a:cs typeface="Arial"/>
              </a:defRPr>
            </a:pPr>
            <a:r>
              <a:rPr sz="3225" b="1">
                <a:solidFill>
                  <a:srgbClr val="142D3B"/>
                </a:solidFill>
                <a:latin typeface="Arial"/>
                <a:ea typeface="Arial"/>
                <a:cs typeface="Arial"/>
              </a:rPr>
              <a:t>Exploración geográfica de los candidatos</a:t>
            </a:r>
          </a:p>
        </p:txBody>
      </p:sp>
      <p:sp>
        <p:nvSpPr>
          <p:cNvPr id="2" name="">
            <a:extLst xmlns:a="http://schemas.openxmlformats.org/drawingml/2006/main">
              <a:ext uri="{FF2B5EF4-FFF2-40B4-BE49-F238E27FC236}">
                <a16:creationId xmlns:a16="http://schemas.microsoft.com/office/drawing/2014/main" id="{3A137968-174E-4F67-ADAD-4DBD96896F88}"/>
              </a:ext>
            </a:extLst>
          </p:cNvPr>
          <p:cNvSpPr>
            <a:spLocks xmlns:a="http://schemas.openxmlformats.org/drawingml/2006/main" noGrp="1"/>
          </p:cNvSpPr>
          <p:nvPr/>
        </p:nvSpPr>
        <p:spPr>
          <a:xfrm xmlns:a="http://schemas.openxmlformats.org/drawingml/2006/main">
            <a:off x="11049000" y="63246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471"/>
                </a:solidFill>
                <a:latin typeface="Arial"/>
                <a:ea typeface="Arial"/>
                <a:cs typeface="Arial"/>
              </a:defRPr>
            </a:pPr>
            <a:r>
              <a:rPr sz="1350" b="0">
                <a:solidFill>
                  <a:srgbClr val="526471"/>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9C666DCC-E18B-4520-8464-44368BDE21BD}"/>
              </a:ext>
            </a:extLst>
          </p:cNvPr>
          <p:cNvSpPr>
            <a:spLocks xmlns:a="http://schemas.openxmlformats.org/drawingml/2006/main" noGrp="1"/>
          </p:cNvSpPr>
          <p:nvPr/>
        </p:nvSpPr>
        <p:spPr>
          <a:xfrm xmlns:a="http://schemas.openxmlformats.org/drawingml/2006/main">
            <a:off x="685800" y="1628775"/>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00" b="1">
                <a:solidFill>
                  <a:srgbClr val="087E8B"/>
                </a:solidFill>
                <a:latin typeface="Arial"/>
                <a:ea typeface="Arial"/>
                <a:cs typeface="Arial"/>
              </a:defRPr>
            </a:pPr>
            <a:r>
              <a:rPr sz="5400" b="1">
                <a:solidFill>
                  <a:srgbClr val="087E8B"/>
                </a:solidFill>
                <a:latin typeface="Arial"/>
                <a:ea typeface="Arial"/>
                <a:cs typeface="Arial"/>
              </a:rPr>
              <a:t>28 de 28</a:t>
            </a:r>
          </a:p>
        </p:txBody>
      </p:sp>
      <p:sp>
        <p:nvSpPr>
          <p:cNvPr id="4" name="">
            <a:extLst xmlns:a="http://schemas.openxmlformats.org/drawingml/2006/main">
              <a:ext uri="{FF2B5EF4-FFF2-40B4-BE49-F238E27FC236}">
                <a16:creationId xmlns:a16="http://schemas.microsoft.com/office/drawing/2014/main" id="{A0BC54E4-08C7-4952-A1AE-D1AEA6183D6B}"/>
              </a:ext>
            </a:extLst>
          </p:cNvPr>
          <p:cNvSpPr>
            <a:spLocks xmlns:a="http://schemas.openxmlformats.org/drawingml/2006/main" noGrp="1"/>
          </p:cNvSpPr>
          <p:nvPr/>
        </p:nvSpPr>
        <p:spPr>
          <a:xfrm xmlns:a="http://schemas.openxmlformats.org/drawingml/2006/main">
            <a:off x="723900" y="2733675"/>
            <a:ext cx="4857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a:solidFill>
                  <a:srgbClr val="142D3B"/>
                </a:solidFill>
                <a:latin typeface="Arial"/>
                <a:ea typeface="Arial"/>
                <a:cs typeface="Arial"/>
              </a:defRPr>
            </a:pPr>
            <a:r>
              <a:rPr sz="2400" b="0">
                <a:solidFill>
                  <a:srgbClr val="142D3B"/>
                </a:solidFill>
                <a:latin typeface="Arial"/>
                <a:ea typeface="Arial"/>
                <a:cs typeface="Arial"/>
              </a:rPr>
              <a:t>candidatos con centroides disponibles</a:t>
            </a:r>
          </a:p>
        </p:txBody>
      </p:sp>
      <p:sp>
        <p:nvSpPr>
          <p:cNvPr id="5" name="">
            <a:extLst xmlns:a="http://schemas.openxmlformats.org/drawingml/2006/main">
              <a:ext uri="{FF2B5EF4-FFF2-40B4-BE49-F238E27FC236}">
                <a16:creationId xmlns:a16="http://schemas.microsoft.com/office/drawing/2014/main" id="{416B1542-CB85-401C-9755-424E66338886}"/>
              </a:ext>
            </a:extLst>
          </p:cNvPr>
          <p:cNvSpPr>
            <a:spLocks xmlns:a="http://schemas.openxmlformats.org/drawingml/2006/main" noGrp="1"/>
          </p:cNvSpPr>
          <p:nvPr/>
        </p:nvSpPr>
        <p:spPr>
          <a:xfrm xmlns:a="http://schemas.openxmlformats.org/drawingml/2006/main">
            <a:off x="6267450" y="1800225"/>
            <a:ext cx="47625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42D3B"/>
                </a:solidFill>
                <a:latin typeface="Arial"/>
                <a:ea typeface="Arial"/>
                <a:cs typeface="Arial"/>
              </a:defRPr>
            </a:pPr>
            <a:r>
              <a:rPr sz="2325" b="0">
                <a:solidFill>
                  <a:srgbClr val="142D3B"/>
                </a:solidFill>
                <a:latin typeface="Arial"/>
                <a:ea typeface="Arial"/>
                <a:cs typeface="Arial"/>
              </a:rPr>
              <a:t>La matriz conserva hasta tres candidatos por ciudad según su rango oficial.</a:t>
            </a:r>
          </a:p>
        </p:txBody>
      </p:sp>
      <p:sp>
        <p:nvSpPr>
          <p:cNvPr id="6" name="">
            <a:extLst xmlns:a="http://schemas.openxmlformats.org/drawingml/2006/main">
              <a:ext uri="{FF2B5EF4-FFF2-40B4-BE49-F238E27FC236}">
                <a16:creationId xmlns:a16="http://schemas.microsoft.com/office/drawing/2014/main" id="{1A0BBEDA-F09E-4F92-BBD6-F577E9AF6DA2}"/>
              </a:ext>
            </a:extLst>
          </p:cNvPr>
          <p:cNvSpPr>
            <a:spLocks xmlns:a="http://schemas.openxmlformats.org/drawingml/2006/main" noGrp="1"/>
          </p:cNvSpPr>
          <p:nvPr/>
        </p:nvSpPr>
        <p:spPr>
          <a:xfrm xmlns:a="http://schemas.openxmlformats.org/drawingml/2006/main">
            <a:off x="6267450" y="3419475"/>
            <a:ext cx="4762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42D3B"/>
                </a:solidFill>
                <a:latin typeface="Arial"/>
                <a:ea typeface="Arial"/>
                <a:cs typeface="Arial"/>
              </a:defRPr>
            </a:pPr>
            <a:r>
              <a:rPr sz="2175" b="0">
                <a:solidFill>
                  <a:srgbClr val="142D3B"/>
                </a:solidFill>
                <a:latin typeface="Arial"/>
                <a:ea typeface="Arial"/>
                <a:cs typeface="Arial"/>
              </a:rPr>
              <a:t>El mapa muestra ubicación agregada. La tabla conserva muestra, intervalo y cobertura geográfica.</a:t>
            </a:r>
          </a:p>
        </p:txBody>
      </p:sp>
      <p:sp>
        <p:nvSpPr>
          <p:cNvPr id="7" name="">
            <a:extLst xmlns:a="http://schemas.openxmlformats.org/drawingml/2006/main">
              <a:ext uri="{FF2B5EF4-FFF2-40B4-BE49-F238E27FC236}">
                <a16:creationId xmlns:a16="http://schemas.microsoft.com/office/drawing/2014/main" id="{6C7B3DF1-5F09-49C2-BA83-C3ADD1F80503}"/>
              </a:ext>
            </a:extLst>
          </p:cNvPr>
          <p:cNvSpPr>
            <a:spLocks xmlns:a="http://schemas.openxmlformats.org/drawingml/2006/main" noGrp="1"/>
          </p:cNvSpPr>
          <p:nvPr/>
        </p:nvSpPr>
        <p:spPr>
          <a:xfrm xmlns:a="http://schemas.openxmlformats.org/drawingml/2006/main">
            <a:off x="685800" y="56578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526471"/>
                </a:solidFill>
                <a:latin typeface="Arial"/>
                <a:ea typeface="Arial"/>
                <a:cs typeface="Arial"/>
              </a:defRPr>
            </a:pPr>
            <a:r>
              <a:rPr sz="1575" b="0">
                <a:solidFill>
                  <a:srgbClr val="526471"/>
                </a:solidFill>
                <a:latin typeface="Arial"/>
                <a:ea typeface="Arial"/>
                <a:cs typeface="Arial"/>
              </a:rPr>
              <a:t>Los estados watch mantienen su categoría. Las celdas vacías de la matriz no equivalen a cero.</a:t>
            </a:r>
          </a:p>
        </p:txBody>
      </p:sp>
    </p:spTree>
    <p:extLst>
      <p:ext uri="{BB962C8B-B14F-4D97-AF65-F5344CB8AC3E}">
        <p14:creationId xmlns:p14="http://schemas.microsoft.com/office/powerpoint/2010/main" val="95955588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0CF7D90-430E-4C29-B23A-A9763892B991}"/>
              </a:ext>
            </a:extLst>
          </p:cNvPr>
          <p:cNvSpPr>
            <a:spLocks xmlns:a="http://schemas.openxmlformats.org/drawingml/2006/main" noGrp="1"/>
          </p:cNvSpPr>
          <p:nvPr/>
        </p:nvSpPr>
        <p:spPr>
          <a:xfrm xmlns:a="http://schemas.openxmlformats.org/drawingml/2006/main">
            <a:off x="609600" y="4476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142D3B"/>
                </a:solidFill>
                <a:latin typeface="Arial"/>
                <a:ea typeface="Arial"/>
                <a:cs typeface="Arial"/>
              </a:defRPr>
            </a:pPr>
            <a:r>
              <a:rPr sz="3225" b="1">
                <a:solidFill>
                  <a:srgbClr val="142D3B"/>
                </a:solidFill>
                <a:latin typeface="Arial"/>
                <a:ea typeface="Arial"/>
                <a:cs typeface="Arial"/>
              </a:rPr>
              <a:t>Significación y tamaño del efecto</a:t>
            </a:r>
          </a:p>
        </p:txBody>
      </p:sp>
      <p:sp>
        <p:nvSpPr>
          <p:cNvPr id="2" name="">
            <a:extLst xmlns:a="http://schemas.openxmlformats.org/drawingml/2006/main">
              <a:ext uri="{FF2B5EF4-FFF2-40B4-BE49-F238E27FC236}">
                <a16:creationId xmlns:a16="http://schemas.microsoft.com/office/drawing/2014/main" id="{08FC6FF3-EFEC-41EB-8880-B4A66E2B6FF6}"/>
              </a:ext>
            </a:extLst>
          </p:cNvPr>
          <p:cNvSpPr>
            <a:spLocks xmlns:a="http://schemas.openxmlformats.org/drawingml/2006/main" noGrp="1"/>
          </p:cNvSpPr>
          <p:nvPr/>
        </p:nvSpPr>
        <p:spPr>
          <a:xfrm xmlns:a="http://schemas.openxmlformats.org/drawingml/2006/main">
            <a:off x="11049000" y="63246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471"/>
                </a:solidFill>
                <a:latin typeface="Arial"/>
                <a:ea typeface="Arial"/>
                <a:cs typeface="Arial"/>
              </a:defRPr>
            </a:pPr>
            <a:r>
              <a:rPr sz="1350" b="0">
                <a:solidFill>
                  <a:srgbClr val="526471"/>
                </a:solidFill>
                <a:latin typeface="Arial"/>
                <a:ea typeface="Arial"/>
                <a:cs typeface="Arial"/>
              </a:rPr>
              <a:t>14</a:t>
            </a:r>
          </a:p>
        </p:txBody>
      </p:sp>
      <p:graphicFrame>
        <p:nvGraphicFramePr>
          <p:cNvPr id="7" name="Chart"/>
          <p:cNvGraphicFramePr/>
          <p:nvPr/>
        </p:nvGraphicFramePr>
        <p:xfrm>
          <a:off xmlns:a="http://schemas.openxmlformats.org/drawingml/2006/main" x="685800" y="1704975"/>
          <a:ext xmlns:a="http://schemas.openxmlformats.org/drawingml/2006/main" cx="10820400" cy="3571875"/>
        </p:xfrm>
        <a:graphic xmlns:a="http://schemas.openxmlformats.org/drawingml/2006/main">
          <a:graphicData uri="http://schemas.openxmlformats.org/drawingml/2006/chart">
            <c:chart xmlns:r="http://schemas.openxmlformats.org/officeDocument/2006/relationships" xmlns:c="http://schemas.openxmlformats.org/drawingml/2006/chart" r:id="R07851fb05de245f9"/>
          </a:graphicData>
        </a:graphic>
      </p:graphicFrame>
      <p:sp>
        <p:nvSpPr>
          <p:cNvPr id="4" name="">
            <a:extLst xmlns:a="http://schemas.openxmlformats.org/drawingml/2006/main">
              <a:ext uri="{FF2B5EF4-FFF2-40B4-BE49-F238E27FC236}">
                <a16:creationId xmlns:a16="http://schemas.microsoft.com/office/drawing/2014/main" id="{ECEBFB77-2BC2-4AED-88C6-318FC556D1AC}"/>
              </a:ext>
            </a:extLst>
          </p:cNvPr>
          <p:cNvSpPr>
            <a:spLocks xmlns:a="http://schemas.openxmlformats.org/drawingml/2006/main" noGrp="1"/>
          </p:cNvSpPr>
          <p:nvPr/>
        </p:nvSpPr>
        <p:spPr>
          <a:xfrm xmlns:a="http://schemas.openxmlformats.org/drawingml/2006/main">
            <a:off x="685800" y="56578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526471"/>
                </a:solidFill>
                <a:latin typeface="Arial"/>
                <a:ea typeface="Arial"/>
                <a:cs typeface="Arial"/>
              </a:defRPr>
            </a:pPr>
            <a:r>
              <a:rPr sz="1575" b="0">
                <a:solidFill>
                  <a:srgbClr val="526471"/>
                </a:solidFill>
                <a:latin typeface="Arial"/>
                <a:ea typeface="Arial"/>
                <a:cs typeface="Arial"/>
              </a:rPr>
              <a:t>Un valor p pequeño no garantiza relevancia práctica. La decisión local necesita barrio y tipología.</a:t>
            </a:r>
          </a:p>
        </p:txBody>
      </p:sp>
    </p:spTree>
    <p:extLst>
      <p:ext uri="{BB962C8B-B14F-4D97-AF65-F5344CB8AC3E}">
        <p14:creationId xmlns:p14="http://schemas.microsoft.com/office/powerpoint/2010/main" val="186674013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8CD34AB-48FF-49D8-A13F-8BF207D92339}"/>
              </a:ext>
            </a:extLst>
          </p:cNvPr>
          <p:cNvSpPr>
            <a:spLocks xmlns:a="http://schemas.openxmlformats.org/drawingml/2006/main" noGrp="1"/>
          </p:cNvSpPr>
          <p:nvPr/>
        </p:nvSpPr>
        <p:spPr>
          <a:xfrm xmlns:a="http://schemas.openxmlformats.org/drawingml/2006/main">
            <a:off x="609600" y="4476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142D3B"/>
                </a:solidFill>
                <a:latin typeface="Arial"/>
                <a:ea typeface="Arial"/>
                <a:cs typeface="Arial"/>
              </a:defRPr>
            </a:pPr>
            <a:r>
              <a:rPr sz="3225" b="1">
                <a:solidFill>
                  <a:srgbClr val="142D3B"/>
                </a:solidFill>
                <a:latin typeface="Arial"/>
                <a:ea typeface="Arial"/>
                <a:cs typeface="Arial"/>
              </a:rPr>
              <a:t>Precio y estancia mínima: asociaciones</a:t>
            </a:r>
          </a:p>
        </p:txBody>
      </p:sp>
      <p:sp>
        <p:nvSpPr>
          <p:cNvPr id="2" name="">
            <a:extLst xmlns:a="http://schemas.openxmlformats.org/drawingml/2006/main">
              <a:ext uri="{FF2B5EF4-FFF2-40B4-BE49-F238E27FC236}">
                <a16:creationId xmlns:a16="http://schemas.microsoft.com/office/drawing/2014/main" id="{63273735-3CC8-4146-B6FF-71363BE004D2}"/>
              </a:ext>
            </a:extLst>
          </p:cNvPr>
          <p:cNvSpPr>
            <a:spLocks xmlns:a="http://schemas.openxmlformats.org/drawingml/2006/main" noGrp="1"/>
          </p:cNvSpPr>
          <p:nvPr/>
        </p:nvSpPr>
        <p:spPr>
          <a:xfrm xmlns:a="http://schemas.openxmlformats.org/drawingml/2006/main">
            <a:off x="11049000" y="63246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471"/>
                </a:solidFill>
                <a:latin typeface="Arial"/>
                <a:ea typeface="Arial"/>
                <a:cs typeface="Arial"/>
              </a:defRPr>
            </a:pPr>
            <a:r>
              <a:rPr sz="1350" b="0">
                <a:solidFill>
                  <a:srgbClr val="526471"/>
                </a:solidFill>
                <a:latin typeface="Arial"/>
                <a:ea typeface="Arial"/>
                <a:cs typeface="Arial"/>
              </a:rPr>
              <a:t>15</a:t>
            </a:r>
          </a:p>
        </p:txBody>
      </p:sp>
      <p:graphicFrame>
        <p:nvGraphicFramePr>
          <p:cNvPr id="7" name=""/>
          <p:cNvGraphicFramePr/>
          <p:nvPr/>
        </p:nvGraphicFramePr>
        <p:xfrm>
          <a:off xmlns:a="http://schemas.openxmlformats.org/drawingml/2006/main" x="685800" y="1676400"/>
          <a:ext xmlns:a="http://schemas.openxmlformats.org/drawingml/2006/main" cx="10820400" cy="3733800"/>
        </p:xfrm>
        <a:graphic xmlns:a="http://schemas.openxmlformats.org/drawingml/2006/main">
          <a:graphicData uri="http://schemas.openxmlformats.org/drawingml/2006/table">
            <a:tbl>
              <a:tblPr/>
              <a:tblGrid>
                <a:gridCol w="2952750"/>
                <a:gridCol w="3486150"/>
                <a:gridCol w="4381500"/>
              </a:tblGrid>
              <a:tr h="533400">
                <a:tc>
                  <a:txBody>
                    <a:bodyPr/>
                    <a:lstStyle/>
                    <a:p>
                      <a:r>
                        <a:rPr sz="1950" b="1">
                          <a:solidFill>
                            <a:srgbClr val="FFFFFF"/>
                          </a:solidFill>
                          <a:latin typeface="Arial"/>
                          <a:ea typeface="Arial"/>
                          <a:cs typeface="Arial"/>
                        </a:rPr>
                        <a:t>Ciudad</a:t>
                      </a:r>
                    </a:p>
                  </a:txBody>
                  <a:tcPr marL="91440" marR="91440" marT="45720" marB="45720">
                    <a:solidFill>
                      <a:srgbClr val="142D3B"/>
                    </a:solidFill>
                  </a:tcPr>
                </a:tc>
                <a:tc>
                  <a:txBody>
                    <a:bodyPr/>
                    <a:lstStyle/>
                    <a:p>
                      <a:r>
                        <a:rPr sz="1950" b="1">
                          <a:solidFill>
                            <a:srgbClr val="FFFFFF"/>
                          </a:solidFill>
                          <a:latin typeface="Arial"/>
                          <a:ea typeface="Arial"/>
                          <a:cs typeface="Arial"/>
                        </a:rPr>
                        <a:t>Precio / actividad</a:t>
                      </a:r>
                    </a:p>
                  </a:txBody>
                  <a:tcPr marL="91440" marR="91440" marT="45720" marB="45720">
                    <a:solidFill>
                      <a:srgbClr val="142D3B"/>
                    </a:solidFill>
                  </a:tcPr>
                </a:tc>
                <a:tc>
                  <a:txBody>
                    <a:bodyPr/>
                    <a:lstStyle/>
                    <a:p>
                      <a:r>
                        <a:rPr sz="1950" b="1">
                          <a:solidFill>
                            <a:srgbClr val="FFFFFF"/>
                          </a:solidFill>
                          <a:latin typeface="Arial"/>
                          <a:ea typeface="Arial"/>
                          <a:cs typeface="Arial"/>
                        </a:rPr>
                        <a:t>Noches mínimas / actividad</a:t>
                      </a:r>
                    </a:p>
                  </a:txBody>
                  <a:tcPr marL="91440" marR="91440" marT="45720" marB="45720">
                    <a:solidFill>
                      <a:srgbClr val="142D3B"/>
                    </a:solidFill>
                  </a:tcPr>
                </a:tc>
              </a:tr>
              <a:tr h="533400">
                <a:tc>
                  <a:txBody>
                    <a:bodyPr/>
                    <a:lstStyle/>
                    <a:p>
                      <a:r>
                        <a:rPr sz="1950" b="0">
                          <a:solidFill>
                            <a:srgbClr val="142D3B"/>
                          </a:solidFill>
                          <a:latin typeface="Arial"/>
                          <a:ea typeface="Arial"/>
                          <a:cs typeface="Arial"/>
                        </a:rPr>
                        <a:t>Londres</a:t>
                      </a:r>
                    </a:p>
                  </a:txBody>
                  <a:tcPr marL="91440" marR="91440" marT="45720" marB="45720">
                    <a:solidFill>
                      <a:srgbClr val="FFFFFF"/>
                    </a:solidFill>
                  </a:tcPr>
                </a:tc>
                <a:tc>
                  <a:txBody>
                    <a:bodyPr/>
                    <a:lstStyle/>
                    <a:p>
                      <a:r>
                        <a:rPr sz="1950" b="0">
                          <a:solidFill>
                            <a:srgbClr val="142D3B"/>
                          </a:solidFill>
                          <a:latin typeface="Arial"/>
                          <a:ea typeface="Arial"/>
                          <a:cs typeface="Arial"/>
                        </a:rPr>
                        <a:t>-0,064</a:t>
                      </a:r>
                    </a:p>
                  </a:txBody>
                  <a:tcPr marL="91440" marR="91440" marT="45720" marB="45720">
                    <a:solidFill>
                      <a:srgbClr val="FFFFFF"/>
                    </a:solidFill>
                  </a:tcPr>
                </a:tc>
                <a:tc>
                  <a:txBody>
                    <a:bodyPr/>
                    <a:lstStyle/>
                    <a:p>
                      <a:r>
                        <a:rPr sz="1950" b="0">
                          <a:solidFill>
                            <a:srgbClr val="142D3B"/>
                          </a:solidFill>
                          <a:latin typeface="Arial"/>
                          <a:ea typeface="Arial"/>
                          <a:cs typeface="Arial"/>
                        </a:rPr>
                        <a:t>-0,169</a:t>
                      </a:r>
                    </a:p>
                  </a:txBody>
                  <a:tcPr marL="91440" marR="91440" marT="45720" marB="45720">
                    <a:solidFill>
                      <a:srgbClr val="FFFFFF"/>
                    </a:solidFill>
                  </a:tcPr>
                </a:tc>
              </a:tr>
              <a:tr h="533400">
                <a:tc>
                  <a:txBody>
                    <a:bodyPr/>
                    <a:lstStyle/>
                    <a:p>
                      <a:r>
                        <a:rPr sz="1950" b="0">
                          <a:solidFill>
                            <a:srgbClr val="142D3B"/>
                          </a:solidFill>
                          <a:latin typeface="Arial"/>
                          <a:ea typeface="Arial"/>
                          <a:cs typeface="Arial"/>
                        </a:rPr>
                        <a:t>Madrid</a:t>
                      </a:r>
                    </a:p>
                  </a:txBody>
                  <a:tcPr marL="91440" marR="91440" marT="45720" marB="45720">
                    <a:solidFill>
                      <a:srgbClr val="F4F7F8"/>
                    </a:solidFill>
                  </a:tcPr>
                </a:tc>
                <a:tc>
                  <a:txBody>
                    <a:bodyPr/>
                    <a:lstStyle/>
                    <a:p>
                      <a:r>
                        <a:rPr sz="1950" b="0">
                          <a:solidFill>
                            <a:srgbClr val="142D3B"/>
                          </a:solidFill>
                          <a:latin typeface="Arial"/>
                          <a:ea typeface="Arial"/>
                          <a:cs typeface="Arial"/>
                        </a:rPr>
                        <a:t>-0,074</a:t>
                      </a:r>
                    </a:p>
                  </a:txBody>
                  <a:tcPr marL="91440" marR="91440" marT="45720" marB="45720">
                    <a:solidFill>
                      <a:srgbClr val="F4F7F8"/>
                    </a:solidFill>
                  </a:tcPr>
                </a:tc>
                <a:tc>
                  <a:txBody>
                    <a:bodyPr/>
                    <a:lstStyle/>
                    <a:p>
                      <a:r>
                        <a:rPr sz="1950" b="0">
                          <a:solidFill>
                            <a:srgbClr val="142D3B"/>
                          </a:solidFill>
                          <a:latin typeface="Arial"/>
                          <a:ea typeface="Arial"/>
                          <a:cs typeface="Arial"/>
                        </a:rPr>
                        <a:t>-0,042</a:t>
                      </a:r>
                    </a:p>
                  </a:txBody>
                  <a:tcPr marL="91440" marR="91440" marT="45720" marB="45720">
                    <a:solidFill>
                      <a:srgbClr val="F4F7F8"/>
                    </a:solidFill>
                  </a:tcPr>
                </a:tc>
              </a:tr>
              <a:tr h="533400">
                <a:tc>
                  <a:txBody>
                    <a:bodyPr/>
                    <a:lstStyle/>
                    <a:p>
                      <a:r>
                        <a:rPr sz="1950" b="0">
                          <a:solidFill>
                            <a:srgbClr val="142D3B"/>
                          </a:solidFill>
                          <a:latin typeface="Arial"/>
                          <a:ea typeface="Arial"/>
                          <a:cs typeface="Arial"/>
                        </a:rPr>
                        <a:t>Milán</a:t>
                      </a:r>
                    </a:p>
                  </a:txBody>
                  <a:tcPr marL="91440" marR="91440" marT="45720" marB="45720">
                    <a:solidFill>
                      <a:srgbClr val="FFFFFF"/>
                    </a:solidFill>
                  </a:tcPr>
                </a:tc>
                <a:tc>
                  <a:txBody>
                    <a:bodyPr/>
                    <a:lstStyle/>
                    <a:p>
                      <a:r>
                        <a:rPr sz="1950" b="0">
                          <a:solidFill>
                            <a:srgbClr val="142D3B"/>
                          </a:solidFill>
                          <a:latin typeface="Arial"/>
                          <a:ea typeface="Arial"/>
                          <a:cs typeface="Arial"/>
                        </a:rPr>
                        <a:t>-0,220</a:t>
                      </a:r>
                    </a:p>
                  </a:txBody>
                  <a:tcPr marL="91440" marR="91440" marT="45720" marB="45720">
                    <a:solidFill>
                      <a:srgbClr val="FFFFFF"/>
                    </a:solidFill>
                  </a:tcPr>
                </a:tc>
                <a:tc>
                  <a:txBody>
                    <a:bodyPr/>
                    <a:lstStyle/>
                    <a:p>
                      <a:r>
                        <a:rPr sz="1950" b="0">
                          <a:solidFill>
                            <a:srgbClr val="142D3B"/>
                          </a:solidFill>
                          <a:latin typeface="Arial"/>
                          <a:ea typeface="Arial"/>
                          <a:cs typeface="Arial"/>
                        </a:rPr>
                        <a:t>-0,136</a:t>
                      </a:r>
                    </a:p>
                  </a:txBody>
                  <a:tcPr marL="91440" marR="91440" marT="45720" marB="45720">
                    <a:solidFill>
                      <a:srgbClr val="FFFFFF"/>
                    </a:solidFill>
                  </a:tcPr>
                </a:tc>
              </a:tr>
              <a:tr h="533400">
                <a:tc>
                  <a:txBody>
                    <a:bodyPr/>
                    <a:lstStyle/>
                    <a:p>
                      <a:r>
                        <a:rPr sz="1950" b="0">
                          <a:solidFill>
                            <a:srgbClr val="142D3B"/>
                          </a:solidFill>
                          <a:latin typeface="Arial"/>
                          <a:ea typeface="Arial"/>
                          <a:cs typeface="Arial"/>
                        </a:rPr>
                        <a:t>Nueva York</a:t>
                      </a:r>
                    </a:p>
                  </a:txBody>
                  <a:tcPr marL="91440" marR="91440" marT="45720" marB="45720">
                    <a:solidFill>
                      <a:srgbClr val="F4F7F8"/>
                    </a:solidFill>
                  </a:tcPr>
                </a:tc>
                <a:tc>
                  <a:txBody>
                    <a:bodyPr/>
                    <a:lstStyle/>
                    <a:p>
                      <a:r>
                        <a:rPr sz="1950" b="0">
                          <a:solidFill>
                            <a:srgbClr val="142D3B"/>
                          </a:solidFill>
                          <a:latin typeface="Arial"/>
                          <a:ea typeface="Arial"/>
                          <a:cs typeface="Arial"/>
                        </a:rPr>
                        <a:t>-0,060</a:t>
                      </a:r>
                    </a:p>
                  </a:txBody>
                  <a:tcPr marL="91440" marR="91440" marT="45720" marB="45720">
                    <a:solidFill>
                      <a:srgbClr val="F4F7F8"/>
                    </a:solidFill>
                  </a:tcPr>
                </a:tc>
                <a:tc>
                  <a:txBody>
                    <a:bodyPr/>
                    <a:lstStyle/>
                    <a:p>
                      <a:r>
                        <a:rPr sz="1950" b="0">
                          <a:solidFill>
                            <a:srgbClr val="142D3B"/>
                          </a:solidFill>
                          <a:latin typeface="Arial"/>
                          <a:ea typeface="Arial"/>
                          <a:cs typeface="Arial"/>
                        </a:rPr>
                        <a:t>-0,248</a:t>
                      </a:r>
                    </a:p>
                  </a:txBody>
                  <a:tcPr marL="91440" marR="91440" marT="45720" marB="45720">
                    <a:solidFill>
                      <a:srgbClr val="F4F7F8"/>
                    </a:solidFill>
                  </a:tcPr>
                </a:tc>
              </a:tr>
              <a:tr h="533400">
                <a:tc>
                  <a:txBody>
                    <a:bodyPr/>
                    <a:lstStyle/>
                    <a:p>
                      <a:r>
                        <a:rPr sz="1950" b="0">
                          <a:solidFill>
                            <a:srgbClr val="142D3B"/>
                          </a:solidFill>
                          <a:latin typeface="Arial"/>
                          <a:ea typeface="Arial"/>
                          <a:cs typeface="Arial"/>
                        </a:rPr>
                        <a:t>Sídney</a:t>
                      </a:r>
                    </a:p>
                  </a:txBody>
                  <a:tcPr marL="91440" marR="91440" marT="45720" marB="45720">
                    <a:solidFill>
                      <a:srgbClr val="FFFFFF"/>
                    </a:solidFill>
                  </a:tcPr>
                </a:tc>
                <a:tc>
                  <a:txBody>
                    <a:bodyPr/>
                    <a:lstStyle/>
                    <a:p>
                      <a:r>
                        <a:rPr sz="1950" b="0">
                          <a:solidFill>
                            <a:srgbClr val="142D3B"/>
                          </a:solidFill>
                          <a:latin typeface="Arial"/>
                          <a:ea typeface="Arial"/>
                          <a:cs typeface="Arial"/>
                        </a:rPr>
                        <a:t>-0,079</a:t>
                      </a:r>
                    </a:p>
                  </a:txBody>
                  <a:tcPr marL="91440" marR="91440" marT="45720" marB="45720">
                    <a:solidFill>
                      <a:srgbClr val="FFFFFF"/>
                    </a:solidFill>
                  </a:tcPr>
                </a:tc>
                <a:tc>
                  <a:txBody>
                    <a:bodyPr/>
                    <a:lstStyle/>
                    <a:p>
                      <a:r>
                        <a:rPr sz="1950" b="0">
                          <a:solidFill>
                            <a:srgbClr val="142D3B"/>
                          </a:solidFill>
                          <a:latin typeface="Arial"/>
                          <a:ea typeface="Arial"/>
                          <a:cs typeface="Arial"/>
                        </a:rPr>
                        <a:t>-0,335</a:t>
                      </a:r>
                    </a:p>
                  </a:txBody>
                  <a:tcPr marL="91440" marR="91440" marT="45720" marB="45720">
                    <a:solidFill>
                      <a:srgbClr val="FFFFFF"/>
                    </a:solidFill>
                  </a:tcPr>
                </a:tc>
              </a:tr>
              <a:tr h="533400">
                <a:tc>
                  <a:txBody>
                    <a:bodyPr/>
                    <a:lstStyle/>
                    <a:p>
                      <a:r>
                        <a:rPr sz="1950" b="0">
                          <a:solidFill>
                            <a:srgbClr val="142D3B"/>
                          </a:solidFill>
                          <a:latin typeface="Arial"/>
                          <a:ea typeface="Arial"/>
                          <a:cs typeface="Arial"/>
                        </a:rPr>
                        <a:t>Tokio</a:t>
                      </a:r>
                    </a:p>
                  </a:txBody>
                  <a:tcPr marL="91440" marR="91440" marT="45720" marB="45720">
                    <a:solidFill>
                      <a:srgbClr val="F4F7F8"/>
                    </a:solidFill>
                  </a:tcPr>
                </a:tc>
                <a:tc>
                  <a:txBody>
                    <a:bodyPr/>
                    <a:lstStyle/>
                    <a:p>
                      <a:r>
                        <a:rPr sz="1950" b="0">
                          <a:solidFill>
                            <a:srgbClr val="142D3B"/>
                          </a:solidFill>
                          <a:latin typeface="Arial"/>
                          <a:ea typeface="Arial"/>
                          <a:cs typeface="Arial"/>
                        </a:rPr>
                        <a:t>0,115</a:t>
                      </a:r>
                    </a:p>
                  </a:txBody>
                  <a:tcPr marL="91440" marR="91440" marT="45720" marB="45720">
                    <a:solidFill>
                      <a:srgbClr val="F4F7F8"/>
                    </a:solidFill>
                  </a:tcPr>
                </a:tc>
                <a:tc>
                  <a:txBody>
                    <a:bodyPr/>
                    <a:lstStyle/>
                    <a:p>
                      <a:r>
                        <a:rPr sz="1950" b="0">
                          <a:solidFill>
                            <a:srgbClr val="142D3B"/>
                          </a:solidFill>
                          <a:latin typeface="Arial"/>
                          <a:ea typeface="Arial"/>
                          <a:cs typeface="Arial"/>
                        </a:rPr>
                        <a:t>-0,026</a:t>
                      </a:r>
                    </a:p>
                  </a:txBody>
                  <a:tcPr marL="91440" marR="91440" marT="45720" marB="45720">
                    <a:solidFill>
                      <a:srgbClr val="F4F7F8"/>
                    </a:solidFill>
                  </a:tcPr>
                </a:tc>
              </a:tr>
            </a:tbl>
          </a:graphicData>
        </a:graphic>
      </p:graphicFrame>
      <p:sp>
        <p:nvSpPr>
          <p:cNvPr id="4" name="">
            <a:extLst xmlns:a="http://schemas.openxmlformats.org/drawingml/2006/main">
              <a:ext uri="{FF2B5EF4-FFF2-40B4-BE49-F238E27FC236}">
                <a16:creationId xmlns:a16="http://schemas.microsoft.com/office/drawing/2014/main" id="{1E2CC05B-9248-487A-89F3-2565CE852C4C}"/>
              </a:ext>
            </a:extLst>
          </p:cNvPr>
          <p:cNvSpPr>
            <a:spLocks xmlns:a="http://schemas.openxmlformats.org/drawingml/2006/main" noGrp="1"/>
          </p:cNvSpPr>
          <p:nvPr/>
        </p:nvSpPr>
        <p:spPr>
          <a:xfrm xmlns:a="http://schemas.openxmlformats.org/drawingml/2006/main">
            <a:off x="685800" y="56578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526471"/>
                </a:solidFill>
                <a:latin typeface="Arial"/>
                <a:ea typeface="Arial"/>
                <a:cs typeface="Arial"/>
              </a:defRPr>
            </a:pPr>
            <a:r>
              <a:rPr sz="1575" b="0">
                <a:solidFill>
                  <a:srgbClr val="526471"/>
                </a:solidFill>
                <a:latin typeface="Arial"/>
                <a:ea typeface="Arial"/>
                <a:cs typeface="Arial"/>
              </a:rPr>
              <a:t>Coeficiente rho de Spearman. Son asociaciones históricas, sin interpretación causal.</a:t>
            </a:r>
          </a:p>
        </p:txBody>
      </p:sp>
    </p:spTree>
    <p:extLst>
      <p:ext uri="{BB962C8B-B14F-4D97-AF65-F5344CB8AC3E}">
        <p14:creationId xmlns:p14="http://schemas.microsoft.com/office/powerpoint/2010/main" val="179344933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05C325C-FEE5-40F8-A8FB-2473DD0CF4DA}"/>
              </a:ext>
            </a:extLst>
          </p:cNvPr>
          <p:cNvSpPr>
            <a:spLocks xmlns:a="http://schemas.openxmlformats.org/drawingml/2006/main" noGrp="1"/>
          </p:cNvSpPr>
          <p:nvPr/>
        </p:nvSpPr>
        <p:spPr>
          <a:xfrm xmlns:a="http://schemas.openxmlformats.org/drawingml/2006/main">
            <a:off x="609600" y="4476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142D3B"/>
                </a:solidFill>
                <a:latin typeface="Arial"/>
                <a:ea typeface="Arial"/>
                <a:cs typeface="Arial"/>
              </a:defRPr>
            </a:pPr>
            <a:r>
              <a:rPr sz="3225" b="1">
                <a:solidFill>
                  <a:srgbClr val="142D3B"/>
                </a:solidFill>
                <a:latin typeface="Arial"/>
                <a:ea typeface="Arial"/>
                <a:cs typeface="Arial"/>
              </a:rPr>
              <a:t>Dashboard y distribución del análisis</a:t>
            </a:r>
          </a:p>
        </p:txBody>
      </p:sp>
      <p:sp>
        <p:nvSpPr>
          <p:cNvPr id="2" name="">
            <a:extLst xmlns:a="http://schemas.openxmlformats.org/drawingml/2006/main">
              <a:ext uri="{FF2B5EF4-FFF2-40B4-BE49-F238E27FC236}">
                <a16:creationId xmlns:a16="http://schemas.microsoft.com/office/drawing/2014/main" id="{E3F6F000-497B-4C8C-B8E7-2B3C9F5BE3D7}"/>
              </a:ext>
            </a:extLst>
          </p:cNvPr>
          <p:cNvSpPr>
            <a:spLocks xmlns:a="http://schemas.openxmlformats.org/drawingml/2006/main" noGrp="1"/>
          </p:cNvSpPr>
          <p:nvPr/>
        </p:nvSpPr>
        <p:spPr>
          <a:xfrm xmlns:a="http://schemas.openxmlformats.org/drawingml/2006/main">
            <a:off x="11049000" y="63246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471"/>
                </a:solidFill>
                <a:latin typeface="Arial"/>
                <a:ea typeface="Arial"/>
                <a:cs typeface="Arial"/>
              </a:defRPr>
            </a:pPr>
            <a:r>
              <a:rPr sz="1350" b="0">
                <a:solidFill>
                  <a:srgbClr val="526471"/>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F1A555AD-778A-4EBD-AC77-BC7F9EF439CD}"/>
              </a:ext>
            </a:extLst>
          </p:cNvPr>
          <p:cNvSpPr>
            <a:spLocks xmlns:a="http://schemas.openxmlformats.org/drawingml/2006/main" noGrp="1"/>
          </p:cNvSpPr>
          <p:nvPr/>
        </p:nvSpPr>
        <p:spPr>
          <a:xfrm xmlns:a="http://schemas.openxmlformats.org/drawingml/2006/main">
            <a:off x="685800" y="1733550"/>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a:solidFill>
                  <a:srgbClr val="087E8B"/>
                </a:solidFill>
                <a:latin typeface="Arial"/>
                <a:ea typeface="Arial"/>
                <a:cs typeface="Arial"/>
              </a:defRPr>
            </a:pPr>
            <a:r>
              <a:rPr sz="2625" b="1">
                <a:solidFill>
                  <a:srgbClr val="087E8B"/>
                </a:solidFill>
                <a:latin typeface="Arial"/>
                <a:ea typeface="Arial"/>
                <a:cs typeface="Arial"/>
              </a:rPr>
              <a:t>Power BI Desktop</a:t>
            </a:r>
          </a:p>
        </p:txBody>
      </p:sp>
      <p:sp>
        <p:nvSpPr>
          <p:cNvPr id="4" name="">
            <a:extLst xmlns:a="http://schemas.openxmlformats.org/drawingml/2006/main">
              <a:ext uri="{FF2B5EF4-FFF2-40B4-BE49-F238E27FC236}">
                <a16:creationId xmlns:a16="http://schemas.microsoft.com/office/drawing/2014/main" id="{F1C1431E-7ADD-4AEF-A3ED-CB3BD52FDF93}"/>
              </a:ext>
            </a:extLst>
          </p:cNvPr>
          <p:cNvSpPr>
            <a:spLocks xmlns:a="http://schemas.openxmlformats.org/drawingml/2006/main" noGrp="1"/>
          </p:cNvSpPr>
          <p:nvPr/>
        </p:nvSpPr>
        <p:spPr>
          <a:xfrm xmlns:a="http://schemas.openxmlformats.org/drawingml/2006/main">
            <a:off x="685800" y="2466975"/>
            <a:ext cx="4857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42D3B"/>
                </a:solidFill>
                <a:latin typeface="Arial"/>
                <a:ea typeface="Arial"/>
                <a:cs typeface="Arial"/>
              </a:defRPr>
            </a:pPr>
            <a:r>
              <a:rPr sz="2325" b="0">
                <a:solidFill>
                  <a:srgbClr val="142D3B"/>
                </a:solidFill>
                <a:latin typeface="Arial"/>
                <a:ea typeface="Arial"/>
                <a:cs typeface="Arial"/>
              </a:rPr>
              <a:t>Modelo estrella y filtros por ciudad, barrio, tipología y estado de evidencia.</a:t>
            </a:r>
          </a:p>
        </p:txBody>
      </p:sp>
      <p:sp>
        <p:nvSpPr>
          <p:cNvPr id="5" name="">
            <a:extLst xmlns:a="http://schemas.openxmlformats.org/drawingml/2006/main">
              <a:ext uri="{FF2B5EF4-FFF2-40B4-BE49-F238E27FC236}">
                <a16:creationId xmlns:a16="http://schemas.microsoft.com/office/drawing/2014/main" id="{E824E94D-7653-4173-BC64-B5E0262ABE59}"/>
              </a:ext>
            </a:extLst>
          </p:cNvPr>
          <p:cNvSpPr>
            <a:spLocks xmlns:a="http://schemas.openxmlformats.org/drawingml/2006/main" noGrp="1"/>
          </p:cNvSpPr>
          <p:nvPr/>
        </p:nvSpPr>
        <p:spPr>
          <a:xfrm xmlns:a="http://schemas.openxmlformats.org/drawingml/2006/main">
            <a:off x="6191250" y="1733550"/>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a:solidFill>
                  <a:srgbClr val="087E8B"/>
                </a:solidFill>
                <a:latin typeface="Arial"/>
                <a:ea typeface="Arial"/>
                <a:cs typeface="Arial"/>
              </a:defRPr>
            </a:pPr>
            <a:r>
              <a:rPr sz="2625" b="1">
                <a:solidFill>
                  <a:srgbClr val="087E8B"/>
                </a:solidFill>
                <a:latin typeface="Arial"/>
                <a:ea typeface="Arial"/>
                <a:cs typeface="Arial"/>
              </a:rPr>
              <a:t>Streamlit</a:t>
            </a:r>
          </a:p>
        </p:txBody>
      </p:sp>
      <p:sp>
        <p:nvSpPr>
          <p:cNvPr id="6" name="">
            <a:extLst xmlns:a="http://schemas.openxmlformats.org/drawingml/2006/main">
              <a:ext uri="{FF2B5EF4-FFF2-40B4-BE49-F238E27FC236}">
                <a16:creationId xmlns:a16="http://schemas.microsoft.com/office/drawing/2014/main" id="{FFEA974F-5747-4F38-83E0-904ABF04F856}"/>
              </a:ext>
            </a:extLst>
          </p:cNvPr>
          <p:cNvSpPr>
            <a:spLocks xmlns:a="http://schemas.openxmlformats.org/drawingml/2006/main" noGrp="1"/>
          </p:cNvSpPr>
          <p:nvPr/>
        </p:nvSpPr>
        <p:spPr>
          <a:xfrm xmlns:a="http://schemas.openxmlformats.org/drawingml/2006/main">
            <a:off x="6191250" y="2466975"/>
            <a:ext cx="5048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42D3B"/>
                </a:solidFill>
                <a:latin typeface="Arial"/>
                <a:ea typeface="Arial"/>
                <a:cs typeface="Arial"/>
              </a:defRPr>
            </a:pPr>
            <a:r>
              <a:rPr sz="2325" b="0">
                <a:solidFill>
                  <a:srgbClr val="142D3B"/>
                </a:solidFill>
                <a:latin typeface="Arial"/>
                <a:ea typeface="Arial"/>
                <a:cs typeface="Arial"/>
              </a:rPr>
              <a:t>Resumen, oportunidades y confianza estadística sobre las mismas exportaciones.</a:t>
            </a:r>
          </a:p>
        </p:txBody>
      </p:sp>
      <p:sp>
        <p:nvSpPr>
          <p:cNvPr id="7" name="">
            <a:extLst xmlns:a="http://schemas.openxmlformats.org/drawingml/2006/main">
              <a:ext uri="{FF2B5EF4-FFF2-40B4-BE49-F238E27FC236}">
                <a16:creationId xmlns:a16="http://schemas.microsoft.com/office/drawing/2014/main" id="{3E3C9BA3-18BA-4475-A6CC-57CAF4EE56C8}"/>
              </a:ext>
            </a:extLst>
          </p:cNvPr>
          <p:cNvSpPr>
            <a:spLocks xmlns:a="http://schemas.openxmlformats.org/drawingml/2006/main" noGrp="1"/>
          </p:cNvSpPr>
          <p:nvPr/>
        </p:nvSpPr>
        <p:spPr>
          <a:xfrm xmlns:a="http://schemas.openxmlformats.org/drawingml/2006/main">
            <a:off x="685800" y="4600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42D3B"/>
                </a:solidFill>
                <a:latin typeface="Arial"/>
                <a:ea typeface="Arial"/>
                <a:cs typeface="Arial"/>
              </a:defRPr>
            </a:pPr>
            <a:r>
              <a:rPr sz="2100" b="0">
                <a:solidFill>
                  <a:srgbClr val="142D3B"/>
                </a:solidFill>
                <a:latin typeface="Arial"/>
                <a:ea typeface="Arial"/>
                <a:cs typeface="Arial"/>
              </a:rPr>
              <a:t>Docker Compose distribuye el pipeline y el panel.</a:t>
            </a:r>
          </a:p>
          <a:p xmlns:a="http://schemas.openxmlformats.org/drawingml/2006/main">
            <a:pPr>
              <a:defRPr sz="2100" b="0">
                <a:solidFill>
                  <a:srgbClr val="142D3B"/>
                </a:solidFill>
                <a:latin typeface="Arial"/>
                <a:ea typeface="Arial"/>
                <a:cs typeface="Arial"/>
              </a:defRPr>
            </a:pPr>
            <a:r>
              <a:rPr sz="2100" b="0">
                <a:solidFill>
                  <a:srgbClr val="142D3B"/>
                </a:solidFill>
                <a:latin typeface="Arial"/>
                <a:ea typeface="Arial"/>
                <a:cs typeface="Arial"/>
              </a:rPr>
              <a:t>El dashboard lee data/powerbi/ en modo de solo lectura.</a:t>
            </a:r>
          </a:p>
        </p:txBody>
      </p:sp>
    </p:spTree>
    <p:extLst>
      <p:ext uri="{BB962C8B-B14F-4D97-AF65-F5344CB8AC3E}">
        <p14:creationId xmlns:p14="http://schemas.microsoft.com/office/powerpoint/2010/main" val="176450367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5CB7FB8-05CA-44B3-A285-58C3DF69587A}"/>
              </a:ext>
            </a:extLst>
          </p:cNvPr>
          <p:cNvSpPr>
            <a:spLocks xmlns:a="http://schemas.openxmlformats.org/drawingml/2006/main" noGrp="1"/>
          </p:cNvSpPr>
          <p:nvPr/>
        </p:nvSpPr>
        <p:spPr>
          <a:xfrm xmlns:a="http://schemas.openxmlformats.org/drawingml/2006/main">
            <a:off x="609600" y="4476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142D3B"/>
                </a:solidFill>
                <a:latin typeface="Arial"/>
                <a:ea typeface="Arial"/>
                <a:cs typeface="Arial"/>
              </a:defRPr>
            </a:pPr>
            <a:r>
              <a:rPr sz="3225" b="1">
                <a:solidFill>
                  <a:srgbClr val="142D3B"/>
                </a:solidFill>
                <a:latin typeface="Arial"/>
                <a:ea typeface="Arial"/>
                <a:cs typeface="Arial"/>
              </a:rPr>
              <a:t>Reproducir y mantener el proyecto</a:t>
            </a:r>
          </a:p>
        </p:txBody>
      </p:sp>
      <p:sp>
        <p:nvSpPr>
          <p:cNvPr id="2" name="">
            <a:extLst xmlns:a="http://schemas.openxmlformats.org/drawingml/2006/main">
              <a:ext uri="{FF2B5EF4-FFF2-40B4-BE49-F238E27FC236}">
                <a16:creationId xmlns:a16="http://schemas.microsoft.com/office/drawing/2014/main" id="{755E4E5B-66F0-475D-AC5A-4059D3AA5F86}"/>
              </a:ext>
            </a:extLst>
          </p:cNvPr>
          <p:cNvSpPr>
            <a:spLocks xmlns:a="http://schemas.openxmlformats.org/drawingml/2006/main" noGrp="1"/>
          </p:cNvSpPr>
          <p:nvPr/>
        </p:nvSpPr>
        <p:spPr>
          <a:xfrm xmlns:a="http://schemas.openxmlformats.org/drawingml/2006/main">
            <a:off x="11049000" y="63246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471"/>
                </a:solidFill>
                <a:latin typeface="Arial"/>
                <a:ea typeface="Arial"/>
                <a:cs typeface="Arial"/>
              </a:defRPr>
            </a:pPr>
            <a:r>
              <a:rPr sz="1350" b="0">
                <a:solidFill>
                  <a:srgbClr val="526471"/>
                </a:solidFill>
                <a:latin typeface="Arial"/>
                <a:ea typeface="Arial"/>
                <a:cs typeface="Arial"/>
              </a:rPr>
              <a:t>17</a:t>
            </a:r>
          </a:p>
        </p:txBody>
      </p:sp>
      <p:graphicFrame>
        <p:nvGraphicFramePr>
          <p:cNvPr id="7" name=""/>
          <p:cNvGraphicFramePr/>
          <p:nvPr/>
        </p:nvGraphicFramePr>
        <p:xfrm>
          <a:off xmlns:a="http://schemas.openxmlformats.org/drawingml/2006/main" x="685800" y="1676400"/>
          <a:ext xmlns:a="http://schemas.openxmlformats.org/drawingml/2006/main" cx="10820400" cy="3429000"/>
        </p:xfrm>
        <a:graphic xmlns:a="http://schemas.openxmlformats.org/drawingml/2006/main">
          <a:graphicData uri="http://schemas.openxmlformats.org/drawingml/2006/table">
            <a:tbl>
              <a:tblPr/>
              <a:tblGrid>
                <a:gridCol w="2952750"/>
                <a:gridCol w="7867650"/>
              </a:tblGrid>
              <a:tr h="685800">
                <a:tc>
                  <a:txBody>
                    <a:bodyPr/>
                    <a:lstStyle/>
                    <a:p>
                      <a:r>
                        <a:rPr sz="1800" b="1">
                          <a:solidFill>
                            <a:srgbClr val="FFFFFF"/>
                          </a:solidFill>
                          <a:latin typeface="Arial"/>
                          <a:ea typeface="Arial"/>
                          <a:cs typeface="Arial"/>
                        </a:rPr>
                        <a:t>Paso</a:t>
                      </a:r>
                    </a:p>
                  </a:txBody>
                  <a:tcPr marL="91440" marR="91440" marT="45720" marB="45720">
                    <a:solidFill>
                      <a:srgbClr val="142D3B"/>
                    </a:solidFill>
                  </a:tcPr>
                </a:tc>
                <a:tc>
                  <a:txBody>
                    <a:bodyPr/>
                    <a:lstStyle/>
                    <a:p>
                      <a:r>
                        <a:rPr sz="1800" b="1">
                          <a:solidFill>
                            <a:srgbClr val="FFFFFF"/>
                          </a:solidFill>
                          <a:latin typeface="Arial"/>
                          <a:ea typeface="Arial"/>
                          <a:cs typeface="Arial"/>
                        </a:rPr>
                        <a:t>Comando</a:t>
                      </a:r>
                    </a:p>
                  </a:txBody>
                  <a:tcPr marL="91440" marR="91440" marT="45720" marB="45720">
                    <a:solidFill>
                      <a:srgbClr val="142D3B"/>
                    </a:solidFill>
                  </a:tcPr>
                </a:tc>
              </a:tr>
              <a:tr h="685800">
                <a:tc>
                  <a:txBody>
                    <a:bodyPr/>
                    <a:lstStyle/>
                    <a:p>
                      <a:r>
                        <a:rPr sz="1800" b="0">
                          <a:solidFill>
                            <a:srgbClr val="142D3B"/>
                          </a:solidFill>
                          <a:latin typeface="Arial"/>
                          <a:ea typeface="Arial"/>
                          <a:cs typeface="Arial"/>
                        </a:rPr>
                        <a:t>Preparar entorno</a:t>
                      </a:r>
                    </a:p>
                  </a:txBody>
                  <a:tcPr marL="91440" marR="91440" marT="45720" marB="45720">
                    <a:solidFill>
                      <a:srgbClr val="FFFFFF"/>
                    </a:solidFill>
                  </a:tcPr>
                </a:tc>
                <a:tc>
                  <a:txBody>
                    <a:bodyPr/>
                    <a:lstStyle/>
                    <a:p>
                      <a:r>
                        <a:rPr sz="1800" b="0">
                          <a:solidFill>
                            <a:srgbClr val="142D3B"/>
                          </a:solidFill>
                          <a:latin typeface="Arial"/>
                          <a:ea typeface="Arial"/>
                          <a:cs typeface="Arial"/>
                        </a:rPr>
                        <a:t>uv sync --locked --group dev</a:t>
                      </a:r>
                    </a:p>
                  </a:txBody>
                  <a:tcPr marL="91440" marR="91440" marT="45720" marB="45720">
                    <a:solidFill>
                      <a:srgbClr val="FFFFFF"/>
                    </a:solidFill>
                  </a:tcPr>
                </a:tc>
              </a:tr>
              <a:tr h="685800">
                <a:tc>
                  <a:txBody>
                    <a:bodyPr/>
                    <a:lstStyle/>
                    <a:p>
                      <a:r>
                        <a:rPr sz="1800" b="0">
                          <a:solidFill>
                            <a:srgbClr val="142D3B"/>
                          </a:solidFill>
                          <a:latin typeface="Arial"/>
                          <a:ea typeface="Arial"/>
                          <a:cs typeface="Arial"/>
                        </a:rPr>
                        <a:t>Ejecutar el pipeline</a:t>
                      </a:r>
                    </a:p>
                  </a:txBody>
                  <a:tcPr marL="91440" marR="91440" marT="45720" marB="45720">
                    <a:solidFill>
                      <a:srgbClr val="F4F7F8"/>
                    </a:solidFill>
                  </a:tcPr>
                </a:tc>
                <a:tc>
                  <a:txBody>
                    <a:bodyPr/>
                    <a:lstStyle/>
                    <a:p>
                      <a:r>
                        <a:rPr sz="1800" b="0">
                          <a:solidFill>
                            <a:srgbClr val="142D3B"/>
                          </a:solidFill>
                          <a:latin typeface="Arial"/>
                          <a:ea typeface="Arial"/>
                          <a:cs typeface="Arial"/>
                        </a:rPr>
                        <a:t>uv run --locked airbnb-supply all --log-format json</a:t>
                      </a:r>
                    </a:p>
                  </a:txBody>
                  <a:tcPr marL="91440" marR="91440" marT="45720" marB="45720">
                    <a:solidFill>
                      <a:srgbClr val="F4F7F8"/>
                    </a:solidFill>
                  </a:tcPr>
                </a:tc>
              </a:tr>
              <a:tr h="685800">
                <a:tc>
                  <a:txBody>
                    <a:bodyPr/>
                    <a:lstStyle/>
                    <a:p>
                      <a:r>
                        <a:rPr sz="1800" b="0">
                          <a:solidFill>
                            <a:srgbClr val="142D3B"/>
                          </a:solidFill>
                          <a:latin typeface="Arial"/>
                          <a:ea typeface="Arial"/>
                          <a:cs typeface="Arial"/>
                        </a:rPr>
                        <a:t>Repetir notebooks</a:t>
                      </a:r>
                    </a:p>
                  </a:txBody>
                  <a:tcPr marL="91440" marR="91440" marT="45720" marB="45720">
                    <a:solidFill>
                      <a:srgbClr val="FFFFFF"/>
                    </a:solidFill>
                  </a:tcPr>
                </a:tc>
                <a:tc>
                  <a:txBody>
                    <a:bodyPr/>
                    <a:lstStyle/>
                    <a:p>
                      <a:r>
                        <a:rPr sz="1800" b="0">
                          <a:solidFill>
                            <a:srgbClr val="142D3B"/>
                          </a:solidFill>
                          <a:latin typeface="Arial"/>
                          <a:ea typeface="Arial"/>
                          <a:cs typeface="Arial"/>
                        </a:rPr>
                        <a:t>uv run --locked airbnb-supply notebooks</a:t>
                      </a:r>
                    </a:p>
                  </a:txBody>
                  <a:tcPr marL="91440" marR="91440" marT="45720" marB="45720">
                    <a:solidFill>
                      <a:srgbClr val="FFFFFF"/>
                    </a:solidFill>
                  </a:tcPr>
                </a:tc>
              </a:tr>
              <a:tr h="685800">
                <a:tc>
                  <a:txBody>
                    <a:bodyPr/>
                    <a:lstStyle/>
                    <a:p>
                      <a:r>
                        <a:rPr sz="1800" b="0">
                          <a:solidFill>
                            <a:srgbClr val="142D3B"/>
                          </a:solidFill>
                          <a:latin typeface="Arial"/>
                          <a:ea typeface="Arial"/>
                          <a:cs typeface="Arial"/>
                        </a:rPr>
                        <a:t>Verificar código</a:t>
                      </a:r>
                    </a:p>
                  </a:txBody>
                  <a:tcPr marL="91440" marR="91440" marT="45720" marB="45720">
                    <a:solidFill>
                      <a:srgbClr val="F4F7F8"/>
                    </a:solidFill>
                  </a:tcPr>
                </a:tc>
                <a:tc>
                  <a:txBody>
                    <a:bodyPr/>
                    <a:lstStyle/>
                    <a:p>
                      <a:r>
                        <a:rPr sz="1800" b="0">
                          <a:solidFill>
                            <a:srgbClr val="142D3B"/>
                          </a:solidFill>
                          <a:latin typeface="Arial"/>
                          <a:ea typeface="Arial"/>
                          <a:cs typeface="Arial"/>
                        </a:rPr>
                        <a:t>uv run --locked pytest -q</a:t>
                      </a:r>
                    </a:p>
                    <a:p>
                      <a:r>
                        <a:rPr sz="1800" b="0">
                          <a:solidFill>
                            <a:srgbClr val="142D3B"/>
                          </a:solidFill>
                          <a:latin typeface="Arial"/>
                          <a:ea typeface="Arial"/>
                          <a:cs typeface="Arial"/>
                        </a:rPr>
                        <a:t>uv run --locked ruff check .</a:t>
                      </a:r>
                    </a:p>
                  </a:txBody>
                  <a:tcPr marL="91440" marR="91440" marT="45720" marB="45720">
                    <a:solidFill>
                      <a:srgbClr val="F4F7F8"/>
                    </a:solidFill>
                  </a:tcPr>
                </a:tc>
              </a:tr>
            </a:tbl>
          </a:graphicData>
        </a:graphic>
      </p:graphicFrame>
      <p:sp>
        <p:nvSpPr>
          <p:cNvPr id="4" name="">
            <a:extLst xmlns:a="http://schemas.openxmlformats.org/drawingml/2006/main">
              <a:ext uri="{FF2B5EF4-FFF2-40B4-BE49-F238E27FC236}">
                <a16:creationId xmlns:a16="http://schemas.microsoft.com/office/drawing/2014/main" id="{96CAE1E3-E925-4E88-AB00-4B6EFDCF3662}"/>
              </a:ext>
            </a:extLst>
          </p:cNvPr>
          <p:cNvSpPr>
            <a:spLocks xmlns:a="http://schemas.openxmlformats.org/drawingml/2006/main" noGrp="1"/>
          </p:cNvSpPr>
          <p:nvPr/>
        </p:nvSpPr>
        <p:spPr>
          <a:xfrm xmlns:a="http://schemas.openxmlformats.org/drawingml/2006/main">
            <a:off x="685800" y="56578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526471"/>
                </a:solidFill>
                <a:latin typeface="Arial"/>
                <a:ea typeface="Arial"/>
                <a:cs typeface="Arial"/>
              </a:defRPr>
            </a:pPr>
            <a:r>
              <a:rPr sz="1575" b="0">
                <a:solidFill>
                  <a:srgbClr val="526471"/>
                </a:solidFill>
                <a:latin typeface="Arial"/>
                <a:ea typeface="Arial"/>
                <a:cs typeface="Arial"/>
              </a:rPr>
              <a:t>Conservar fuentes, configuración, uv.lock y build. Revisar las cifras narrativas cuando cambie el build.</a:t>
            </a:r>
          </a:p>
        </p:txBody>
      </p:sp>
    </p:spTree>
    <p:extLst>
      <p:ext uri="{BB962C8B-B14F-4D97-AF65-F5344CB8AC3E}">
        <p14:creationId xmlns:p14="http://schemas.microsoft.com/office/powerpoint/2010/main" val="193256643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0D56D63-E6F9-49E1-A794-213E28DAB0C8}"/>
              </a:ext>
            </a:extLst>
          </p:cNvPr>
          <p:cNvSpPr>
            <a:spLocks xmlns:a="http://schemas.openxmlformats.org/drawingml/2006/main" noGrp="1"/>
          </p:cNvSpPr>
          <p:nvPr/>
        </p:nvSpPr>
        <p:spPr>
          <a:xfrm xmlns:a="http://schemas.openxmlformats.org/drawingml/2006/main">
            <a:off x="609600" y="4476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142D3B"/>
                </a:solidFill>
                <a:latin typeface="Arial"/>
                <a:ea typeface="Arial"/>
                <a:cs typeface="Arial"/>
              </a:defRPr>
            </a:pPr>
            <a:r>
              <a:rPr sz="3225" b="1">
                <a:solidFill>
                  <a:srgbClr val="142D3B"/>
                </a:solidFill>
                <a:latin typeface="Arial"/>
                <a:ea typeface="Arial"/>
                <a:cs typeface="Arial"/>
              </a:rPr>
              <a:t>Conclusiones y límites</a:t>
            </a:r>
          </a:p>
        </p:txBody>
      </p:sp>
      <p:sp>
        <p:nvSpPr>
          <p:cNvPr id="2" name="">
            <a:extLst xmlns:a="http://schemas.openxmlformats.org/drawingml/2006/main">
              <a:ext uri="{FF2B5EF4-FFF2-40B4-BE49-F238E27FC236}">
                <a16:creationId xmlns:a16="http://schemas.microsoft.com/office/drawing/2014/main" id="{8816E8D8-24AB-4EAC-8A91-0E4FA23448CA}"/>
              </a:ext>
            </a:extLst>
          </p:cNvPr>
          <p:cNvSpPr>
            <a:spLocks xmlns:a="http://schemas.openxmlformats.org/drawingml/2006/main" noGrp="1"/>
          </p:cNvSpPr>
          <p:nvPr/>
        </p:nvSpPr>
        <p:spPr>
          <a:xfrm xmlns:a="http://schemas.openxmlformats.org/drawingml/2006/main">
            <a:off x="11049000" y="63246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471"/>
                </a:solidFill>
                <a:latin typeface="Arial"/>
                <a:ea typeface="Arial"/>
                <a:cs typeface="Arial"/>
              </a:defRPr>
            </a:pPr>
            <a:r>
              <a:rPr sz="1350" b="0">
                <a:solidFill>
                  <a:srgbClr val="526471"/>
                </a:solidFill>
                <a:latin typeface="Arial"/>
                <a:ea typeface="Arial"/>
                <a:cs typeface="Arial"/>
              </a:rPr>
              <a:t>18</a:t>
            </a:r>
          </a:p>
        </p:txBody>
      </p:sp>
      <p:sp>
        <p:nvSpPr>
          <p:cNvPr id="3" name="">
            <a:extLst xmlns:a="http://schemas.openxmlformats.org/drawingml/2006/main">
              <a:ext uri="{FF2B5EF4-FFF2-40B4-BE49-F238E27FC236}">
                <a16:creationId xmlns:a16="http://schemas.microsoft.com/office/drawing/2014/main" id="{9287F3A2-9BA2-4CC1-8120-FE0223E14903}"/>
              </a:ext>
            </a:extLst>
          </p:cNvPr>
          <p:cNvSpPr>
            <a:spLocks xmlns:a="http://schemas.openxmlformats.org/drawingml/2006/main" noGrp="1"/>
          </p:cNvSpPr>
          <p:nvPr/>
        </p:nvSpPr>
        <p:spPr>
          <a:xfrm xmlns:a="http://schemas.openxmlformats.org/drawingml/2006/main">
            <a:off x="685800" y="1657350"/>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75" b="0">
                <a:solidFill>
                  <a:srgbClr val="142D3B"/>
                </a:solidFill>
                <a:latin typeface="Arial"/>
                <a:ea typeface="Arial"/>
                <a:cs typeface="Arial"/>
              </a:defRPr>
            </a:pPr>
            <a:r>
              <a:rPr sz="2775" b="0">
                <a:solidFill>
                  <a:srgbClr val="142D3B"/>
                </a:solidFill>
                <a:latin typeface="Arial"/>
                <a:ea typeface="Arial"/>
                <a:cs typeface="Arial"/>
              </a:rPr>
              <a:t>Investigar los candidatos con evidencia robusta, empezando por el rango de cada ciudad.</a:t>
            </a:r>
          </a:p>
        </p:txBody>
      </p:sp>
      <p:sp>
        <p:nvSpPr>
          <p:cNvPr id="4" name="">
            <a:extLst xmlns:a="http://schemas.openxmlformats.org/drawingml/2006/main">
              <a:ext uri="{FF2B5EF4-FFF2-40B4-BE49-F238E27FC236}">
                <a16:creationId xmlns:a16="http://schemas.microsoft.com/office/drawing/2014/main" id="{B5180316-BF03-4CDF-BC8D-5DDA4E88D50A}"/>
              </a:ext>
            </a:extLst>
          </p:cNvPr>
          <p:cNvSpPr>
            <a:spLocks xmlns:a="http://schemas.openxmlformats.org/drawingml/2006/main" noGrp="1"/>
          </p:cNvSpPr>
          <p:nvPr/>
        </p:nvSpPr>
        <p:spPr>
          <a:xfrm xmlns:a="http://schemas.openxmlformats.org/drawingml/2006/main">
            <a:off x="685800" y="3143250"/>
            <a:ext cx="5048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087E8B"/>
                </a:solidFill>
                <a:latin typeface="Arial"/>
                <a:ea typeface="Arial"/>
                <a:cs typeface="Arial"/>
              </a:defRPr>
            </a:pPr>
            <a:r>
              <a:rPr sz="2250" b="1">
                <a:solidFill>
                  <a:srgbClr val="087E8B"/>
                </a:solidFill>
                <a:latin typeface="Arial"/>
                <a:ea typeface="Arial"/>
                <a:cs typeface="Arial"/>
              </a:rPr>
              <a:t>Qué añade el notebook</a:t>
            </a:r>
          </a:p>
        </p:txBody>
      </p:sp>
      <p:sp>
        <p:nvSpPr>
          <p:cNvPr id="5" name="">
            <a:extLst xmlns:a="http://schemas.openxmlformats.org/drawingml/2006/main">
              <a:ext uri="{FF2B5EF4-FFF2-40B4-BE49-F238E27FC236}">
                <a16:creationId xmlns:a16="http://schemas.microsoft.com/office/drawing/2014/main" id="{AF7A749D-BC45-446E-8930-112758DAA571}"/>
              </a:ext>
            </a:extLst>
          </p:cNvPr>
          <p:cNvSpPr>
            <a:spLocks xmlns:a="http://schemas.openxmlformats.org/drawingml/2006/main" noGrp="1"/>
          </p:cNvSpPr>
          <p:nvPr/>
        </p:nvSpPr>
        <p:spPr>
          <a:xfrm xmlns:a="http://schemas.openxmlformats.org/drawingml/2006/main">
            <a:off x="685800" y="3800475"/>
            <a:ext cx="5000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42D3B"/>
                </a:solidFill>
                <a:latin typeface="Arial"/>
                <a:ea typeface="Arial"/>
                <a:cs typeface="Arial"/>
              </a:defRPr>
            </a:pPr>
            <a:r>
              <a:rPr sz="2175" b="0">
                <a:solidFill>
                  <a:srgbClr val="142D3B"/>
                </a:solidFill>
                <a:latin typeface="Arial"/>
                <a:ea typeface="Arial"/>
                <a:cs typeface="Arial"/>
              </a:rPr>
              <a:t>Centroides y brechas de cuota local.</a:t>
            </a:r>
          </a:p>
          <a:p xmlns:a="http://schemas.openxmlformats.org/drawingml/2006/main">
            <a:pPr>
              <a:defRPr sz="2175" b="0">
                <a:solidFill>
                  <a:srgbClr val="142D3B"/>
                </a:solidFill>
                <a:latin typeface="Arial"/>
                <a:ea typeface="Arial"/>
                <a:cs typeface="Arial"/>
              </a:defRPr>
            </a:pPr>
            <a:r>
              <a:rPr sz="2175" b="0">
                <a:solidFill>
                  <a:srgbClr val="142D3B"/>
                </a:solidFill>
                <a:latin typeface="Arial"/>
                <a:ea typeface="Arial"/>
                <a:cs typeface="Arial"/>
              </a:rPr>
              <a:t>25 de 28 candidatos en Nueva York y Sídney.</a:t>
            </a:r>
          </a:p>
        </p:txBody>
      </p:sp>
      <p:sp>
        <p:nvSpPr>
          <p:cNvPr id="6" name="">
            <a:extLst xmlns:a="http://schemas.openxmlformats.org/drawingml/2006/main">
              <a:ext uri="{FF2B5EF4-FFF2-40B4-BE49-F238E27FC236}">
                <a16:creationId xmlns:a16="http://schemas.microsoft.com/office/drawing/2014/main" id="{8F303207-C9CC-4818-A146-7B375B3E1093}"/>
              </a:ext>
            </a:extLst>
          </p:cNvPr>
          <p:cNvSpPr>
            <a:spLocks xmlns:a="http://schemas.openxmlformats.org/drawingml/2006/main" noGrp="1"/>
          </p:cNvSpPr>
          <p:nvPr/>
        </p:nvSpPr>
        <p:spPr>
          <a:xfrm xmlns:a="http://schemas.openxmlformats.org/drawingml/2006/main">
            <a:off x="6191250" y="3143250"/>
            <a:ext cx="5048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BC432E"/>
                </a:solidFill>
                <a:latin typeface="Arial"/>
                <a:ea typeface="Arial"/>
                <a:cs typeface="Arial"/>
              </a:defRPr>
            </a:pPr>
            <a:r>
              <a:rPr sz="2250" b="1">
                <a:solidFill>
                  <a:srgbClr val="BC432E"/>
                </a:solidFill>
                <a:latin typeface="Arial"/>
                <a:ea typeface="Arial"/>
                <a:cs typeface="Arial"/>
              </a:rPr>
              <a:t>Qué falta para decidir</a:t>
            </a:r>
          </a:p>
        </p:txBody>
      </p:sp>
      <p:sp>
        <p:nvSpPr>
          <p:cNvPr id="7" name="">
            <a:extLst xmlns:a="http://schemas.openxmlformats.org/drawingml/2006/main">
              <a:ext uri="{FF2B5EF4-FFF2-40B4-BE49-F238E27FC236}">
                <a16:creationId xmlns:a16="http://schemas.microsoft.com/office/drawing/2014/main" id="{AE8DC465-A086-467B-9050-4F6D743CCC31}"/>
              </a:ext>
            </a:extLst>
          </p:cNvPr>
          <p:cNvSpPr>
            <a:spLocks xmlns:a="http://schemas.openxmlformats.org/drawingml/2006/main" noGrp="1"/>
          </p:cNvSpPr>
          <p:nvPr/>
        </p:nvSpPr>
        <p:spPr>
          <a:xfrm xmlns:a="http://schemas.openxmlformats.org/drawingml/2006/main">
            <a:off x="6191250" y="3800475"/>
            <a:ext cx="5048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42D3B"/>
                </a:solidFill>
                <a:latin typeface="Arial"/>
                <a:ea typeface="Arial"/>
                <a:cs typeface="Arial"/>
              </a:defRPr>
            </a:pPr>
            <a:r>
              <a:rPr sz="2175" b="0">
                <a:solidFill>
                  <a:srgbClr val="142D3B"/>
                </a:solidFill>
                <a:latin typeface="Arial"/>
                <a:ea typeface="Arial"/>
                <a:cs typeface="Arial"/>
              </a:rPr>
              <a:t>Datos internos vigentes de reservas, conversión, ocupación y costes.</a:t>
            </a:r>
          </a:p>
        </p:txBody>
      </p:sp>
      <p:sp>
        <p:nvSpPr>
          <p:cNvPr id="8" name="">
            <a:extLst xmlns:a="http://schemas.openxmlformats.org/drawingml/2006/main">
              <a:ext uri="{FF2B5EF4-FFF2-40B4-BE49-F238E27FC236}">
                <a16:creationId xmlns:a16="http://schemas.microsoft.com/office/drawing/2014/main" id="{0FAA4A9E-FBD1-4E44-ACFA-01DDE8093009}"/>
              </a:ext>
            </a:extLst>
          </p:cNvPr>
          <p:cNvSpPr>
            <a:spLocks xmlns:a="http://schemas.openxmlformats.org/drawingml/2006/main" noGrp="1"/>
          </p:cNvSpPr>
          <p:nvPr/>
        </p:nvSpPr>
        <p:spPr>
          <a:xfrm xmlns:a="http://schemas.openxmlformats.org/drawingml/2006/main">
            <a:off x="685800" y="56578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526471"/>
                </a:solidFill>
                <a:latin typeface="Arial"/>
                <a:ea typeface="Arial"/>
                <a:cs typeface="Arial"/>
              </a:defRPr>
            </a:pPr>
            <a:r>
              <a:rPr sz="1575" b="0">
                <a:solidFill>
                  <a:srgbClr val="526471"/>
                </a:solidFill>
                <a:latin typeface="Arial"/>
                <a:ea typeface="Arial"/>
                <a:cs typeface="Arial"/>
              </a:rPr>
              <a:t>Fuentes de fecha y representatividad desconocidas. Los resultados priorizan investigación comercial.</a:t>
            </a:r>
          </a:p>
        </p:txBody>
      </p:sp>
    </p:spTree>
    <p:extLst>
      <p:ext uri="{BB962C8B-B14F-4D97-AF65-F5344CB8AC3E}">
        <p14:creationId xmlns:p14="http://schemas.microsoft.com/office/powerpoint/2010/main" val="14169371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2026-09-08T21:58:08.2360000Z</dcterms:created>
  <dcterms:modified xsi:type="dcterms:W3CDTF">2026-09-08T21:58:08.2360000Z</dcterms:modified>
</coreProperties>
</file>